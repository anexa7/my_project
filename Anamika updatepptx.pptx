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36478" y="2274290"/>
            <a:ext cx="3271042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33593" y="3100120"/>
            <a:ext cx="5652134" cy="720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036121"/>
            <a:ext cx="9144000" cy="10737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4242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9363" y="651903"/>
            <a:ext cx="2551430" cy="34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1987" y="1299679"/>
            <a:ext cx="4709160" cy="243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hyperlink" Target="mailto:annexi.mika@gmail.com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42420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017325"/>
            <a:ext cx="9144000" cy="126174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" name="object 5" descr=""/>
            <p:cNvSpPr/>
            <p:nvPr/>
          </p:nvSpPr>
          <p:spPr>
            <a:xfrm>
              <a:off x="364882" y="652908"/>
              <a:ext cx="3603625" cy="485140"/>
            </a:xfrm>
            <a:custGeom>
              <a:avLst/>
              <a:gdLst/>
              <a:ahLst/>
              <a:cxnLst/>
              <a:rect l="l" t="t" r="r" b="b"/>
              <a:pathLst>
                <a:path w="3603625" h="485140">
                  <a:moveTo>
                    <a:pt x="0" y="80835"/>
                  </a:moveTo>
                  <a:lnTo>
                    <a:pt x="6394" y="49495"/>
                  </a:lnTo>
                  <a:lnTo>
                    <a:pt x="23789" y="23787"/>
                  </a:lnTo>
                  <a:lnTo>
                    <a:pt x="49498" y="6394"/>
                  </a:lnTo>
                  <a:lnTo>
                    <a:pt x="80838" y="0"/>
                  </a:lnTo>
                  <a:lnTo>
                    <a:pt x="3522497" y="0"/>
                  </a:lnTo>
                  <a:lnTo>
                    <a:pt x="3553837" y="6394"/>
                  </a:lnTo>
                  <a:lnTo>
                    <a:pt x="3579545" y="23787"/>
                  </a:lnTo>
                  <a:lnTo>
                    <a:pt x="3596938" y="49495"/>
                  </a:lnTo>
                  <a:lnTo>
                    <a:pt x="3603332" y="80835"/>
                  </a:lnTo>
                  <a:lnTo>
                    <a:pt x="3603332" y="404177"/>
                  </a:lnTo>
                  <a:lnTo>
                    <a:pt x="3596938" y="435519"/>
                  </a:lnTo>
                  <a:lnTo>
                    <a:pt x="3579545" y="461232"/>
                  </a:lnTo>
                  <a:lnTo>
                    <a:pt x="3553837" y="478629"/>
                  </a:lnTo>
                  <a:lnTo>
                    <a:pt x="3522497" y="485025"/>
                  </a:lnTo>
                  <a:lnTo>
                    <a:pt x="80838" y="485025"/>
                  </a:lnTo>
                  <a:lnTo>
                    <a:pt x="49498" y="478629"/>
                  </a:lnTo>
                  <a:lnTo>
                    <a:pt x="23789" y="461232"/>
                  </a:lnTo>
                  <a:lnTo>
                    <a:pt x="6394" y="435519"/>
                  </a:lnTo>
                  <a:lnTo>
                    <a:pt x="0" y="404177"/>
                  </a:lnTo>
                  <a:lnTo>
                    <a:pt x="0" y="80835"/>
                  </a:lnTo>
                  <a:close/>
                </a:path>
              </a:pathLst>
            </a:custGeom>
            <a:ln w="12699">
              <a:solidFill>
                <a:srgbClr val="1D62B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435018" y="3060611"/>
            <a:ext cx="30480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17445" algn="l"/>
              </a:tabLst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400" spc="1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400" spc="1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1400" spc="1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	2</a:t>
            </a:r>
            <a:r>
              <a:rPr dirty="0" sz="140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sz="140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40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9321" y="4244678"/>
            <a:ext cx="1075690" cy="479425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81915">
              <a:lnSpc>
                <a:spcPct val="100000"/>
              </a:lnSpc>
              <a:spcBef>
                <a:spcPts val="525"/>
              </a:spcBef>
            </a:pPr>
            <a:r>
              <a:rPr dirty="0" sz="1000">
                <a:latin typeface="Arial"/>
                <a:cs typeface="Arial"/>
              </a:rPr>
              <a:t>Student </a:t>
            </a:r>
            <a:r>
              <a:rPr dirty="0" sz="1000" spc="-20">
                <a:latin typeface="Arial"/>
                <a:cs typeface="Arial"/>
              </a:rPr>
              <a:t>Name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200" b="1">
                <a:solidFill>
                  <a:srgbClr val="0D358D"/>
                </a:solidFill>
                <a:latin typeface="Arial"/>
                <a:cs typeface="Arial"/>
              </a:rPr>
              <a:t>Anamika</a:t>
            </a:r>
            <a:r>
              <a:rPr dirty="0" sz="1200" spc="-45" b="1">
                <a:solidFill>
                  <a:srgbClr val="0D358D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0D358D"/>
                </a:solidFill>
                <a:latin typeface="Arial"/>
                <a:cs typeface="Arial"/>
              </a:rPr>
              <a:t>Shah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73753" y="769747"/>
            <a:ext cx="8060055" cy="3913504"/>
            <a:chOff x="173753" y="769747"/>
            <a:chExt cx="8060055" cy="3913504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753" y="4301388"/>
              <a:ext cx="395330" cy="3818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34115" y="4288485"/>
              <a:ext cx="398278" cy="3897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42147" y="4302125"/>
              <a:ext cx="375814" cy="381063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0732" y="769747"/>
              <a:ext cx="891539" cy="22377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97225" y="769747"/>
              <a:ext cx="795141" cy="25861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6396825" y="1149121"/>
              <a:ext cx="1837055" cy="2430780"/>
            </a:xfrm>
            <a:custGeom>
              <a:avLst/>
              <a:gdLst/>
              <a:ahLst/>
              <a:cxnLst/>
              <a:rect l="l" t="t" r="r" b="b"/>
              <a:pathLst>
                <a:path w="1837054" h="2430779">
                  <a:moveTo>
                    <a:pt x="1646605" y="60198"/>
                  </a:moveTo>
                  <a:lnTo>
                    <a:pt x="1554861" y="0"/>
                  </a:lnTo>
                  <a:lnTo>
                    <a:pt x="0" y="2370137"/>
                  </a:lnTo>
                  <a:lnTo>
                    <a:pt x="91744" y="2430322"/>
                  </a:lnTo>
                  <a:lnTo>
                    <a:pt x="1646605" y="60198"/>
                  </a:lnTo>
                  <a:close/>
                </a:path>
                <a:path w="1837054" h="2430779">
                  <a:moveTo>
                    <a:pt x="1706943" y="317398"/>
                  </a:moveTo>
                  <a:lnTo>
                    <a:pt x="1615198" y="257213"/>
                  </a:lnTo>
                  <a:lnTo>
                    <a:pt x="260972" y="2321509"/>
                  </a:lnTo>
                  <a:lnTo>
                    <a:pt x="352717" y="2381707"/>
                  </a:lnTo>
                  <a:lnTo>
                    <a:pt x="1706943" y="317398"/>
                  </a:lnTo>
                  <a:close/>
                </a:path>
                <a:path w="1837054" h="2430779">
                  <a:moveTo>
                    <a:pt x="1759521" y="585279"/>
                  </a:moveTo>
                  <a:lnTo>
                    <a:pt x="1667776" y="525094"/>
                  </a:lnTo>
                  <a:lnTo>
                    <a:pt x="514172" y="2283574"/>
                  </a:lnTo>
                  <a:lnTo>
                    <a:pt x="605917" y="2343759"/>
                  </a:lnTo>
                  <a:lnTo>
                    <a:pt x="1759521" y="585279"/>
                  </a:lnTo>
                  <a:close/>
                </a:path>
                <a:path w="1837054" h="2430779">
                  <a:moveTo>
                    <a:pt x="1836928" y="805497"/>
                  </a:moveTo>
                  <a:lnTo>
                    <a:pt x="1739709" y="741718"/>
                  </a:lnTo>
                  <a:lnTo>
                    <a:pt x="712863" y="2306993"/>
                  </a:lnTo>
                  <a:lnTo>
                    <a:pt x="810082" y="2370772"/>
                  </a:lnTo>
                  <a:lnTo>
                    <a:pt x="1836928" y="805497"/>
                  </a:lnTo>
                  <a:close/>
                </a:path>
              </a:pathLst>
            </a:custGeom>
            <a:solidFill>
              <a:srgbClr val="4FC3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3753" y="1046556"/>
              <a:ext cx="3854246" cy="1849526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5022532" y="4225531"/>
            <a:ext cx="1823720" cy="49403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>
                <a:latin typeface="Arial"/>
                <a:cs typeface="Arial"/>
              </a:rPr>
              <a:t>Student </a:t>
            </a:r>
            <a:r>
              <a:rPr dirty="0" sz="1000" spc="-10">
                <a:latin typeface="Arial"/>
                <a:cs typeface="Arial"/>
              </a:rPr>
              <a:t>Email</a:t>
            </a:r>
            <a:endParaRPr sz="10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570"/>
              </a:spcBef>
            </a:pPr>
            <a:r>
              <a:rPr dirty="0" sz="1200" spc="-10" b="1">
                <a:solidFill>
                  <a:srgbClr val="0D358D"/>
                </a:solidFill>
                <a:latin typeface="Arial"/>
                <a:cs typeface="Arial"/>
                <a:hlinkClick r:id="rId11"/>
              </a:rPr>
              <a:t>annexi.mika@gmail.com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744736" y="4218795"/>
            <a:ext cx="1579245" cy="47561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000">
                <a:latin typeface="Arial"/>
                <a:cs typeface="Arial"/>
              </a:rPr>
              <a:t>Mentor </a:t>
            </a:r>
            <a:r>
              <a:rPr dirty="0" sz="1000" spc="-20">
                <a:latin typeface="Arial"/>
                <a:cs typeface="Arial"/>
              </a:rPr>
              <a:t>Name</a:t>
            </a:r>
            <a:endParaRPr sz="1000">
              <a:latin typeface="Arial"/>
              <a:cs typeface="Arial"/>
            </a:endParaRPr>
          </a:p>
          <a:p>
            <a:pPr marL="59690">
              <a:lnSpc>
                <a:spcPct val="100000"/>
              </a:lnSpc>
              <a:spcBef>
                <a:spcPts val="490"/>
              </a:spcBef>
            </a:pPr>
            <a:r>
              <a:rPr dirty="0" sz="1200" b="1">
                <a:solidFill>
                  <a:srgbClr val="0D358D"/>
                </a:solidFill>
                <a:latin typeface="Arial"/>
                <a:cs typeface="Arial"/>
              </a:rPr>
              <a:t>Ms.</a:t>
            </a:r>
            <a:r>
              <a:rPr dirty="0" sz="1200" spc="-10" b="1">
                <a:solidFill>
                  <a:srgbClr val="0D358D"/>
                </a:solidFill>
                <a:latin typeface="Arial"/>
                <a:cs typeface="Arial"/>
              </a:rPr>
              <a:t> Umamaheshwari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528310" y="3491242"/>
            <a:ext cx="967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1F3863"/>
                </a:solidFill>
                <a:latin typeface="Calibri"/>
                <a:cs typeface="Calibri"/>
              </a:rPr>
              <a:t>Retention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61866" y="3491242"/>
            <a:ext cx="42418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170305" algn="l"/>
                <a:tab pos="2300605" algn="l"/>
                <a:tab pos="3375660" algn="l"/>
              </a:tabLst>
            </a:pPr>
            <a:r>
              <a:rPr dirty="0" sz="1800" spc="-10" b="1">
                <a:solidFill>
                  <a:srgbClr val="1F3863"/>
                </a:solidFill>
                <a:latin typeface="Calibri"/>
                <a:cs typeface="Calibri"/>
              </a:rPr>
              <a:t>Workforce</a:t>
            </a: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	</a:t>
            </a:r>
            <a:r>
              <a:rPr dirty="0" sz="1800" spc="-10" b="1">
                <a:solidFill>
                  <a:srgbClr val="1F3863"/>
                </a:solidFill>
                <a:latin typeface="Calibri"/>
                <a:cs typeface="Calibri"/>
              </a:rPr>
              <a:t>Longevity:</a:t>
            </a: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	</a:t>
            </a:r>
            <a:r>
              <a:rPr dirty="0" sz="1800" spc="-10" b="1">
                <a:solidFill>
                  <a:srgbClr val="1F3863"/>
                </a:solidFill>
                <a:latin typeface="Calibri"/>
                <a:cs typeface="Calibri"/>
              </a:rPr>
              <a:t>Designing</a:t>
            </a:r>
            <a:r>
              <a:rPr dirty="0" sz="1800" b="1">
                <a:solidFill>
                  <a:srgbClr val="1F3863"/>
                </a:solidFill>
                <a:latin typeface="Calibri"/>
                <a:cs typeface="Calibri"/>
              </a:rPr>
              <a:t>	</a:t>
            </a:r>
            <a:r>
              <a:rPr dirty="0" sz="1800" spc="-10" b="1">
                <a:solidFill>
                  <a:srgbClr val="1F3863"/>
                </a:solidFill>
                <a:latin typeface="Calibri"/>
                <a:cs typeface="Calibri"/>
              </a:rPr>
              <a:t>Data-</a:t>
            </a:r>
            <a:r>
              <a:rPr dirty="0" sz="1800" spc="-25" b="1">
                <a:solidFill>
                  <a:srgbClr val="1F3863"/>
                </a:solidFill>
                <a:latin typeface="Calibri"/>
                <a:cs typeface="Calibri"/>
              </a:rPr>
              <a:t>Led </a:t>
            </a:r>
            <a:r>
              <a:rPr dirty="0" sz="1800" spc="-10" b="1">
                <a:solidFill>
                  <a:srgbClr val="1F3863"/>
                </a:solidFill>
                <a:latin typeface="Calibri"/>
                <a:cs typeface="Calibri"/>
              </a:rPr>
              <a:t>Strategies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Outline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3978" y="1007183"/>
            <a:ext cx="3035935" cy="303276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Abstract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0">
                <a:latin typeface="Arial"/>
                <a:cs typeface="Arial"/>
              </a:rPr>
              <a:t> Project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Problem </a:t>
            </a:r>
            <a:r>
              <a:rPr dirty="0" sz="1800" spc="-10">
                <a:latin typeface="Arial"/>
                <a:cs typeface="Arial"/>
              </a:rPr>
              <a:t>Statement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Proposed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Solution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System</a:t>
            </a:r>
            <a:r>
              <a:rPr dirty="0" sz="1800" spc="-10">
                <a:latin typeface="Arial"/>
                <a:cs typeface="Arial"/>
              </a:rPr>
              <a:t> Architecture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Live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Demo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0">
                <a:latin typeface="Arial"/>
                <a:cs typeface="Arial"/>
              </a:rPr>
              <a:t> Project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Embedded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Video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Project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 spc="-10">
                <a:latin typeface="Arial"/>
                <a:cs typeface="Arial"/>
              </a:rPr>
              <a:t>Conclusion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Future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Scope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8621" y="521531"/>
            <a:ext cx="2858122" cy="4363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Abstract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18818" y="1243280"/>
            <a:ext cx="12331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2770" algn="l"/>
              </a:tabLst>
            </a:pPr>
            <a:r>
              <a:rPr dirty="0" sz="1700" spc="-20">
                <a:latin typeface="Arial"/>
                <a:cs typeface="Arial"/>
              </a:rPr>
              <a:t>This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10">
                <a:latin typeface="Arial"/>
                <a:cs typeface="Arial"/>
              </a:rPr>
              <a:t>project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78992" y="1243280"/>
            <a:ext cx="88963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latin typeface="Arial"/>
                <a:cs typeface="Arial"/>
              </a:rPr>
              <a:t>develops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595908" y="1243280"/>
            <a:ext cx="24663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  <a:tab pos="1517015" algn="l"/>
              </a:tabLst>
            </a:pPr>
            <a:r>
              <a:rPr dirty="0" sz="1700" spc="-5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0">
                <a:latin typeface="Arial"/>
                <a:cs typeface="Arial"/>
              </a:rPr>
              <a:t>data-</a:t>
            </a:r>
            <a:r>
              <a:rPr dirty="0" sz="1700" spc="-10">
                <a:latin typeface="Arial"/>
                <a:cs typeface="Arial"/>
              </a:rPr>
              <a:t>driven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10">
                <a:latin typeface="Arial"/>
                <a:cs typeface="Arial"/>
              </a:rPr>
              <a:t>employee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18818" y="1502360"/>
            <a:ext cx="206184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0765" algn="l"/>
              </a:tabLst>
            </a:pPr>
            <a:r>
              <a:rPr dirty="0" sz="1700" spc="-10">
                <a:latin typeface="Arial"/>
                <a:cs typeface="Arial"/>
              </a:rPr>
              <a:t>retention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10">
                <a:latin typeface="Arial"/>
                <a:cs typeface="Arial"/>
              </a:rPr>
              <a:t>framework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443452" y="1502360"/>
            <a:ext cx="26187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6915" algn="l"/>
                <a:tab pos="1217930" algn="l"/>
                <a:tab pos="2245360" algn="l"/>
              </a:tabLst>
            </a:pPr>
            <a:r>
              <a:rPr dirty="0" sz="1700" spc="-10">
                <a:latin typeface="Arial"/>
                <a:cs typeface="Arial"/>
              </a:rPr>
              <a:t>using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5">
                <a:latin typeface="Arial"/>
                <a:cs typeface="Arial"/>
              </a:rPr>
              <a:t>HR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10">
                <a:latin typeface="Arial"/>
                <a:cs typeface="Arial"/>
              </a:rPr>
              <a:t>analytics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5">
                <a:latin typeface="Arial"/>
                <a:cs typeface="Arial"/>
              </a:rPr>
              <a:t>and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8818" y="1609040"/>
            <a:ext cx="4843145" cy="203708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00"/>
              </a:spcBef>
            </a:pPr>
            <a:r>
              <a:rPr dirty="0" sz="1700">
                <a:latin typeface="Arial"/>
                <a:cs typeface="Arial"/>
              </a:rPr>
              <a:t>Power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BI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to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address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attrition.</a:t>
            </a:r>
            <a:endParaRPr sz="17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1200"/>
              </a:spcBef>
            </a:pPr>
            <a:r>
              <a:rPr dirty="0" sz="1700">
                <a:latin typeface="Arial"/>
                <a:cs typeface="Arial"/>
              </a:rPr>
              <a:t>Using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the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IBM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HR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dataset,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it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identifies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key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drivers </a:t>
            </a:r>
            <a:r>
              <a:rPr dirty="0" sz="1700">
                <a:latin typeface="Arial"/>
                <a:cs typeface="Arial"/>
              </a:rPr>
              <a:t>like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job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satisfaction,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overtime,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salary,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and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tenure.</a:t>
            </a:r>
            <a:endParaRPr sz="1700">
              <a:latin typeface="Arial"/>
              <a:cs typeface="Arial"/>
            </a:endParaRPr>
          </a:p>
          <a:p>
            <a:pPr algn="just" marL="12700" marR="6350">
              <a:lnSpc>
                <a:spcPct val="100000"/>
              </a:lnSpc>
              <a:spcBef>
                <a:spcPts val="1200"/>
              </a:spcBef>
            </a:pPr>
            <a:r>
              <a:rPr dirty="0" sz="1700">
                <a:latin typeface="Arial"/>
                <a:cs typeface="Arial"/>
              </a:rPr>
              <a:t>Through</a:t>
            </a:r>
            <a:r>
              <a:rPr dirty="0" sz="1700" spc="55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data</a:t>
            </a:r>
            <a:r>
              <a:rPr dirty="0" sz="1700" spc="60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cleaning,</a:t>
            </a:r>
            <a:r>
              <a:rPr dirty="0" sz="1700" spc="60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KPI</a:t>
            </a:r>
            <a:r>
              <a:rPr dirty="0" sz="1700" spc="60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development,</a:t>
            </a:r>
            <a:r>
              <a:rPr dirty="0" sz="1700" spc="60">
                <a:latin typeface="Arial"/>
                <a:cs typeface="Arial"/>
              </a:rPr>
              <a:t>  </a:t>
            </a:r>
            <a:r>
              <a:rPr dirty="0" sz="1700" spc="-25">
                <a:latin typeface="Arial"/>
                <a:cs typeface="Arial"/>
              </a:rPr>
              <a:t>and </a:t>
            </a:r>
            <a:r>
              <a:rPr dirty="0" sz="1700">
                <a:latin typeface="Arial"/>
                <a:cs typeface="Arial"/>
              </a:rPr>
              <a:t>dashboard</a:t>
            </a:r>
            <a:r>
              <a:rPr dirty="0" sz="1700" spc="15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visualization,</a:t>
            </a:r>
            <a:r>
              <a:rPr dirty="0" sz="1700" spc="15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insights</a:t>
            </a:r>
            <a:r>
              <a:rPr dirty="0" sz="1700" spc="15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are</a:t>
            </a:r>
            <a:r>
              <a:rPr dirty="0" sz="1700" spc="15">
                <a:latin typeface="Arial"/>
                <a:cs typeface="Arial"/>
              </a:rPr>
              <a:t>  </a:t>
            </a:r>
            <a:r>
              <a:rPr dirty="0" sz="1700" spc="-10">
                <a:latin typeface="Arial"/>
                <a:cs typeface="Arial"/>
              </a:rPr>
              <a:t>generated </a:t>
            </a:r>
            <a:r>
              <a:rPr dirty="0" sz="1700">
                <a:latin typeface="Arial"/>
                <a:cs typeface="Arial"/>
              </a:rPr>
              <a:t>from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raw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data.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18818" y="3773120"/>
            <a:ext cx="4843145" cy="802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latin typeface="Arial"/>
                <a:cs typeface="Arial"/>
              </a:rPr>
              <a:t>The</a:t>
            </a:r>
            <a:r>
              <a:rPr dirty="0" sz="1700" spc="105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outcome</a:t>
            </a:r>
            <a:r>
              <a:rPr dirty="0" sz="1700" spc="110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is</a:t>
            </a:r>
            <a:r>
              <a:rPr dirty="0" sz="1700" spc="110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an</a:t>
            </a:r>
            <a:r>
              <a:rPr dirty="0" sz="1700" spc="110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executive</a:t>
            </a:r>
            <a:r>
              <a:rPr dirty="0" sz="1700" spc="110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dashboard</a:t>
            </a:r>
            <a:r>
              <a:rPr dirty="0" sz="1700" spc="110">
                <a:latin typeface="Arial"/>
                <a:cs typeface="Arial"/>
              </a:rPr>
              <a:t>  </a:t>
            </a:r>
            <a:r>
              <a:rPr dirty="0" sz="1700" spc="-20">
                <a:latin typeface="Arial"/>
                <a:cs typeface="Arial"/>
              </a:rPr>
              <a:t>that </a:t>
            </a:r>
            <a:r>
              <a:rPr dirty="0" sz="1700">
                <a:latin typeface="Arial"/>
                <a:cs typeface="Arial"/>
              </a:rPr>
              <a:t>supports</a:t>
            </a:r>
            <a:r>
              <a:rPr dirty="0" sz="1700" spc="409">
                <a:latin typeface="Arial"/>
                <a:cs typeface="Arial"/>
              </a:rPr>
              <a:t>   </a:t>
            </a:r>
            <a:r>
              <a:rPr dirty="0" sz="1700">
                <a:latin typeface="Arial"/>
                <a:cs typeface="Arial"/>
              </a:rPr>
              <a:t>proactive,</a:t>
            </a:r>
            <a:r>
              <a:rPr dirty="0" sz="1700" spc="415">
                <a:latin typeface="Arial"/>
                <a:cs typeface="Arial"/>
              </a:rPr>
              <a:t>   </a:t>
            </a:r>
            <a:r>
              <a:rPr dirty="0" sz="1700" spc="-20">
                <a:latin typeface="Arial"/>
                <a:cs typeface="Arial"/>
              </a:rPr>
              <a:t>data-</a:t>
            </a:r>
            <a:r>
              <a:rPr dirty="0" sz="1700">
                <a:latin typeface="Arial"/>
                <a:cs typeface="Arial"/>
              </a:rPr>
              <a:t>driven</a:t>
            </a:r>
            <a:r>
              <a:rPr dirty="0" sz="1700" spc="415">
                <a:latin typeface="Arial"/>
                <a:cs typeface="Arial"/>
              </a:rPr>
              <a:t>   </a:t>
            </a:r>
            <a:r>
              <a:rPr dirty="0" sz="1700" spc="-10">
                <a:latin typeface="Arial"/>
                <a:cs typeface="Arial"/>
              </a:rPr>
              <a:t>workforce decisions.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8963" y="1046431"/>
            <a:ext cx="4075036" cy="3296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35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5" y="1217703"/>
            <a:ext cx="5200015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8450" marR="5080" indent="-28575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  <a:tab pos="300990" algn="l"/>
              </a:tabLst>
            </a:pPr>
            <a:r>
              <a:rPr dirty="0" sz="1600">
                <a:latin typeface="Arial"/>
                <a:cs typeface="Arial"/>
              </a:rPr>
              <a:t>	Entry</a:t>
            </a:r>
            <a:r>
              <a:rPr dirty="0" sz="1600" spc="3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</a:t>
            </a:r>
            <a:r>
              <a:rPr dirty="0" sz="1600" spc="315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younger</a:t>
            </a:r>
            <a:r>
              <a:rPr dirty="0" sz="1600" spc="3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workforce</a:t>
            </a:r>
            <a:r>
              <a:rPr dirty="0" sz="1600" spc="3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segments</a:t>
            </a:r>
            <a:r>
              <a:rPr dirty="0" sz="1600" spc="330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has</a:t>
            </a:r>
            <a:r>
              <a:rPr dirty="0" sz="1600" spc="3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shifted </a:t>
            </a:r>
            <a:r>
              <a:rPr dirty="0" sz="1600">
                <a:latin typeface="Arial"/>
                <a:cs typeface="Arial"/>
              </a:rPr>
              <a:t>workplace</a:t>
            </a:r>
            <a:r>
              <a:rPr dirty="0" sz="1600" spc="35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expectations,</a:t>
            </a:r>
            <a:r>
              <a:rPr dirty="0" sz="1600" spc="4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increasing</a:t>
            </a:r>
            <a:r>
              <a:rPr dirty="0" sz="1600" spc="4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attrition</a:t>
            </a:r>
            <a:r>
              <a:rPr dirty="0" sz="1600" spc="35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in</a:t>
            </a:r>
            <a:r>
              <a:rPr dirty="0" sz="1600" spc="40">
                <a:latin typeface="Arial"/>
                <a:cs typeface="Arial"/>
              </a:rPr>
              <a:t>  </a:t>
            </a:r>
            <a:r>
              <a:rPr dirty="0" sz="1600" spc="-10">
                <a:latin typeface="Arial"/>
                <a:cs typeface="Arial"/>
              </a:rPr>
              <a:t>rigid </a:t>
            </a:r>
            <a:r>
              <a:rPr dirty="0" sz="1600">
                <a:latin typeface="Arial"/>
                <a:cs typeface="Arial"/>
              </a:rPr>
              <a:t>work </a:t>
            </a:r>
            <a:r>
              <a:rPr dirty="0" sz="1600" spc="-10">
                <a:latin typeface="Arial"/>
                <a:cs typeface="Arial"/>
              </a:rPr>
              <a:t>environments.</a:t>
            </a:r>
            <a:endParaRPr sz="1600">
              <a:latin typeface="Arial"/>
              <a:cs typeface="Arial"/>
            </a:endParaRPr>
          </a:p>
          <a:p>
            <a:pPr algn="just" marL="298450" marR="6350" indent="-285750">
              <a:lnSpc>
                <a:spcPct val="100000"/>
              </a:lnSpc>
              <a:spcBef>
                <a:spcPts val="720"/>
              </a:spcBef>
              <a:buChar char="•"/>
              <a:tabLst>
                <a:tab pos="298450" algn="l"/>
                <a:tab pos="300990" algn="l"/>
              </a:tabLst>
            </a:pPr>
            <a:r>
              <a:rPr dirty="0" sz="1600">
                <a:latin typeface="Arial"/>
                <a:cs typeface="Arial"/>
              </a:rPr>
              <a:t>	High</a:t>
            </a:r>
            <a:r>
              <a:rPr dirty="0" sz="1600" spc="245">
                <a:latin typeface="Arial"/>
                <a:cs typeface="Arial"/>
              </a:rPr>
              <a:t>   </a:t>
            </a:r>
            <a:r>
              <a:rPr dirty="0" sz="1600">
                <a:latin typeface="Arial"/>
                <a:cs typeface="Arial"/>
              </a:rPr>
              <a:t>employee</a:t>
            </a:r>
            <a:r>
              <a:rPr dirty="0" sz="1600" spc="245">
                <a:latin typeface="Arial"/>
                <a:cs typeface="Arial"/>
              </a:rPr>
              <a:t>   </a:t>
            </a:r>
            <a:r>
              <a:rPr dirty="0" sz="1600">
                <a:latin typeface="Arial"/>
                <a:cs typeface="Arial"/>
              </a:rPr>
              <a:t>turnover</a:t>
            </a:r>
            <a:r>
              <a:rPr dirty="0" sz="1600" spc="245">
                <a:latin typeface="Arial"/>
                <a:cs typeface="Arial"/>
              </a:rPr>
              <a:t>   </a:t>
            </a:r>
            <a:r>
              <a:rPr dirty="0" sz="1600">
                <a:latin typeface="Arial"/>
                <a:cs typeface="Arial"/>
              </a:rPr>
              <a:t>impacts</a:t>
            </a:r>
            <a:r>
              <a:rPr dirty="0" sz="1600" spc="250">
                <a:latin typeface="Arial"/>
                <a:cs typeface="Arial"/>
              </a:rPr>
              <a:t>   </a:t>
            </a:r>
            <a:r>
              <a:rPr dirty="0" sz="1600" spc="-10">
                <a:latin typeface="Arial"/>
                <a:cs typeface="Arial"/>
              </a:rPr>
              <a:t>productivity, </a:t>
            </a:r>
            <a:r>
              <a:rPr dirty="0" sz="1600">
                <a:latin typeface="Arial"/>
                <a:cs typeface="Arial"/>
              </a:rPr>
              <a:t>workforce</a:t>
            </a:r>
            <a:r>
              <a:rPr dirty="0" sz="1600" spc="2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stability,</a:t>
            </a:r>
            <a:r>
              <a:rPr dirty="0" sz="1600" spc="2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2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increases</a:t>
            </a:r>
            <a:r>
              <a:rPr dirty="0" sz="1600" spc="2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hiring</a:t>
            </a:r>
            <a:r>
              <a:rPr dirty="0" sz="1600" spc="2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26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training costs.</a:t>
            </a:r>
            <a:endParaRPr sz="1600">
              <a:latin typeface="Arial"/>
              <a:cs typeface="Arial"/>
            </a:endParaRPr>
          </a:p>
          <a:p>
            <a:pPr algn="just" marL="298450" marR="6985" indent="-285750">
              <a:lnSpc>
                <a:spcPct val="100000"/>
              </a:lnSpc>
              <a:spcBef>
                <a:spcPts val="720"/>
              </a:spcBef>
              <a:buChar char="•"/>
              <a:tabLst>
                <a:tab pos="298450" algn="l"/>
                <a:tab pos="300990" algn="l"/>
              </a:tabLst>
            </a:pPr>
            <a:r>
              <a:rPr dirty="0" sz="1600">
                <a:latin typeface="Arial"/>
                <a:cs typeface="Arial"/>
              </a:rPr>
              <a:t>	Current</a:t>
            </a:r>
            <a:r>
              <a:rPr dirty="0" sz="1600" spc="2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HR</a:t>
            </a:r>
            <a:r>
              <a:rPr dirty="0" sz="1600" spc="2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practices</a:t>
            </a:r>
            <a:r>
              <a:rPr dirty="0" sz="1600" spc="2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are</a:t>
            </a:r>
            <a:r>
              <a:rPr dirty="0" sz="1600" spc="2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largely</a:t>
            </a:r>
            <a:r>
              <a:rPr dirty="0" sz="1600" spc="2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reactive</a:t>
            </a:r>
            <a:r>
              <a:rPr dirty="0" sz="1600" spc="2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2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fail</a:t>
            </a:r>
            <a:r>
              <a:rPr dirty="0" sz="1600" spc="25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to </a:t>
            </a:r>
            <a:r>
              <a:rPr dirty="0" sz="1600">
                <a:latin typeface="Arial"/>
                <a:cs typeface="Arial"/>
              </a:rPr>
              <a:t>address</a:t>
            </a:r>
            <a:r>
              <a:rPr dirty="0" sz="1600" spc="3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evolving</a:t>
            </a:r>
            <a:r>
              <a:rPr dirty="0" sz="1600" spc="3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needs</a:t>
            </a:r>
            <a:r>
              <a:rPr dirty="0" sz="1600" spc="3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like</a:t>
            </a:r>
            <a:r>
              <a:rPr dirty="0" sz="1600" spc="3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flexibility,</a:t>
            </a:r>
            <a:r>
              <a:rPr dirty="0" sz="1600" spc="3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purpose,</a:t>
            </a:r>
            <a:r>
              <a:rPr dirty="0" sz="1600" spc="33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and </a:t>
            </a:r>
            <a:r>
              <a:rPr dirty="0" sz="1600">
                <a:latin typeface="Arial"/>
                <a:cs typeface="Arial"/>
              </a:rPr>
              <a:t>continuous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feedback.</a:t>
            </a:r>
            <a:endParaRPr sz="1600">
              <a:latin typeface="Arial"/>
              <a:cs typeface="Arial"/>
            </a:endParaRPr>
          </a:p>
          <a:p>
            <a:pPr algn="just" marL="298450" marR="8255" indent="-285750">
              <a:lnSpc>
                <a:spcPct val="100000"/>
              </a:lnSpc>
              <a:spcBef>
                <a:spcPts val="720"/>
              </a:spcBef>
              <a:buChar char="•"/>
              <a:tabLst>
                <a:tab pos="298450" algn="l"/>
                <a:tab pos="300990" algn="l"/>
              </a:tabLst>
            </a:pPr>
            <a:r>
              <a:rPr dirty="0" sz="1600">
                <a:latin typeface="Arial"/>
                <a:cs typeface="Arial"/>
              </a:rPr>
              <a:t>	Lack</a:t>
            </a:r>
            <a:r>
              <a:rPr dirty="0" sz="1600" spc="3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</a:t>
            </a:r>
            <a:r>
              <a:rPr dirty="0" sz="1600" spc="3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structured</a:t>
            </a:r>
            <a:r>
              <a:rPr dirty="0" sz="1600" spc="3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data</a:t>
            </a:r>
            <a:r>
              <a:rPr dirty="0" sz="1600" spc="3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analysis,</a:t>
            </a:r>
            <a:r>
              <a:rPr dirty="0" sz="1600" spc="3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KPI</a:t>
            </a:r>
            <a:r>
              <a:rPr dirty="0" sz="1600" spc="3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tracking,</a:t>
            </a:r>
            <a:r>
              <a:rPr dirty="0" sz="1600" spc="39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and </a:t>
            </a:r>
            <a:r>
              <a:rPr dirty="0" sz="1600" spc="-20">
                <a:latin typeface="Arial"/>
                <a:cs typeface="Arial"/>
              </a:rPr>
              <a:t>segment-</a:t>
            </a:r>
            <a:r>
              <a:rPr dirty="0" sz="1600">
                <a:latin typeface="Arial"/>
                <a:cs typeface="Arial"/>
              </a:rPr>
              <a:t>based</a:t>
            </a:r>
            <a:r>
              <a:rPr dirty="0" sz="1600" spc="229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insights</a:t>
            </a:r>
            <a:r>
              <a:rPr dirty="0" sz="1600" spc="235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limits</a:t>
            </a:r>
            <a:r>
              <a:rPr dirty="0" sz="1600" spc="235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proactive</a:t>
            </a:r>
            <a:r>
              <a:rPr dirty="0" sz="1600" spc="235">
                <a:latin typeface="Arial"/>
                <a:cs typeface="Arial"/>
              </a:rPr>
              <a:t>  </a:t>
            </a:r>
            <a:r>
              <a:rPr dirty="0" sz="1600" spc="-10">
                <a:latin typeface="Arial"/>
                <a:cs typeface="Arial"/>
              </a:rPr>
              <a:t>decision- </a:t>
            </a:r>
            <a:r>
              <a:rPr dirty="0" sz="1600">
                <a:latin typeface="Arial"/>
                <a:cs typeface="Arial"/>
              </a:rPr>
              <a:t>making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retention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strategies.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7190" y="1222512"/>
            <a:ext cx="3786809" cy="27829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4598" y="447260"/>
            <a:ext cx="3498612" cy="45558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90"/>
              <a:t> </a:t>
            </a:r>
            <a:r>
              <a:rPr dirty="0" spc="-10"/>
              <a:t>Solution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05888" y="1325803"/>
            <a:ext cx="4258945" cy="3317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8450" marR="5715" indent="-28575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  <a:tab pos="300990" algn="l"/>
              </a:tabLst>
            </a:pPr>
            <a:r>
              <a:rPr dirty="0" sz="1600">
                <a:latin typeface="Arial"/>
                <a:cs typeface="Arial"/>
              </a:rPr>
              <a:t>	Designed</a:t>
            </a:r>
            <a:r>
              <a:rPr dirty="0" sz="1600" spc="320">
                <a:latin typeface="Arial"/>
                <a:cs typeface="Arial"/>
              </a:rPr>
              <a:t>   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320">
                <a:latin typeface="Arial"/>
                <a:cs typeface="Arial"/>
              </a:rPr>
              <a:t>    </a:t>
            </a:r>
            <a:r>
              <a:rPr dirty="0" sz="1600" spc="-10">
                <a:latin typeface="Arial"/>
                <a:cs typeface="Arial"/>
              </a:rPr>
              <a:t>data-</a:t>
            </a:r>
            <a:r>
              <a:rPr dirty="0" sz="1600">
                <a:latin typeface="Arial"/>
                <a:cs typeface="Arial"/>
              </a:rPr>
              <a:t>driven</a:t>
            </a:r>
            <a:r>
              <a:rPr dirty="0" sz="1600" spc="325">
                <a:latin typeface="Arial"/>
                <a:cs typeface="Arial"/>
              </a:rPr>
              <a:t>    </a:t>
            </a:r>
            <a:r>
              <a:rPr dirty="0" sz="1600" spc="-10">
                <a:latin typeface="Arial"/>
                <a:cs typeface="Arial"/>
              </a:rPr>
              <a:t>retention </a:t>
            </a:r>
            <a:r>
              <a:rPr dirty="0" sz="1600">
                <a:latin typeface="Arial"/>
                <a:cs typeface="Arial"/>
              </a:rPr>
              <a:t>framework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proactive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workforce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decision- making</a:t>
            </a:r>
            <a:endParaRPr sz="1600">
              <a:latin typeface="Arial"/>
              <a:cs typeface="Arial"/>
            </a:endParaRPr>
          </a:p>
          <a:p>
            <a:pPr algn="just" marL="298450" marR="5715" indent="-285750">
              <a:lnSpc>
                <a:spcPct val="100000"/>
              </a:lnSpc>
              <a:spcBef>
                <a:spcPts val="1200"/>
              </a:spcBef>
              <a:buChar char="•"/>
              <a:tabLst>
                <a:tab pos="298450" algn="l"/>
                <a:tab pos="300990" algn="l"/>
              </a:tabLst>
            </a:pPr>
            <a:r>
              <a:rPr dirty="0" sz="1600">
                <a:latin typeface="Arial"/>
                <a:cs typeface="Arial"/>
              </a:rPr>
              <a:t>	Performed</a:t>
            </a:r>
            <a:r>
              <a:rPr dirty="0" sz="1600" spc="95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data</a:t>
            </a:r>
            <a:r>
              <a:rPr dirty="0" sz="1600" spc="95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cleaning</a:t>
            </a:r>
            <a:r>
              <a:rPr dirty="0" sz="1600" spc="95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95">
                <a:latin typeface="Arial"/>
                <a:cs typeface="Arial"/>
              </a:rPr>
              <a:t>  </a:t>
            </a:r>
            <a:r>
              <a:rPr dirty="0" sz="1600" spc="-10">
                <a:latin typeface="Arial"/>
                <a:cs typeface="Arial"/>
              </a:rPr>
              <a:t>developed </a:t>
            </a:r>
            <a:r>
              <a:rPr dirty="0" sz="1600">
                <a:latin typeface="Arial"/>
                <a:cs typeface="Arial"/>
              </a:rPr>
              <a:t>key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KPIs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structured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  <a:p>
            <a:pPr algn="just" marL="298450" marR="5715" indent="-285750">
              <a:lnSpc>
                <a:spcPct val="100000"/>
              </a:lnSpc>
              <a:spcBef>
                <a:spcPts val="1200"/>
              </a:spcBef>
              <a:buChar char="•"/>
              <a:tabLst>
                <a:tab pos="298450" algn="l"/>
                <a:tab pos="300990" algn="l"/>
              </a:tabLst>
            </a:pPr>
            <a:r>
              <a:rPr dirty="0" sz="1600">
                <a:latin typeface="Arial"/>
                <a:cs typeface="Arial"/>
              </a:rPr>
              <a:t>	Identified</a:t>
            </a:r>
            <a:r>
              <a:rPr dirty="0" sz="1600" spc="9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major</a:t>
            </a:r>
            <a:r>
              <a:rPr dirty="0" sz="1600" spc="9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attrition</a:t>
            </a:r>
            <a:r>
              <a:rPr dirty="0" sz="1600" spc="9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drivers</a:t>
            </a:r>
            <a:r>
              <a:rPr dirty="0" sz="1600" spc="9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such</a:t>
            </a:r>
            <a:r>
              <a:rPr dirty="0" sz="1600" spc="95">
                <a:latin typeface="Arial"/>
                <a:cs typeface="Arial"/>
              </a:rPr>
              <a:t>  </a:t>
            </a:r>
            <a:r>
              <a:rPr dirty="0" sz="1600" spc="-25">
                <a:latin typeface="Arial"/>
                <a:cs typeface="Arial"/>
              </a:rPr>
              <a:t>as </a:t>
            </a:r>
            <a:r>
              <a:rPr dirty="0" sz="1600">
                <a:latin typeface="Arial"/>
                <a:cs typeface="Arial"/>
              </a:rPr>
              <a:t>satisfaction,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overtime,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salary,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tenure</a:t>
            </a:r>
            <a:endParaRPr sz="1600">
              <a:latin typeface="Arial"/>
              <a:cs typeface="Arial"/>
            </a:endParaRPr>
          </a:p>
          <a:p>
            <a:pPr algn="just" marL="298450" marR="5080" indent="-285750">
              <a:lnSpc>
                <a:spcPct val="100000"/>
              </a:lnSpc>
              <a:spcBef>
                <a:spcPts val="1200"/>
              </a:spcBef>
              <a:buChar char="•"/>
              <a:tabLst>
                <a:tab pos="298450" algn="l"/>
                <a:tab pos="300990" algn="l"/>
              </a:tabLst>
            </a:pPr>
            <a:r>
              <a:rPr dirty="0" sz="1600">
                <a:latin typeface="Arial"/>
                <a:cs typeface="Arial"/>
              </a:rPr>
              <a:t>	Built</a:t>
            </a:r>
            <a:r>
              <a:rPr dirty="0" sz="1600" spc="195">
                <a:latin typeface="Arial"/>
                <a:cs typeface="Arial"/>
              </a:rPr>
              <a:t>  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195">
                <a:latin typeface="Arial"/>
                <a:cs typeface="Arial"/>
              </a:rPr>
              <a:t>   </a:t>
            </a:r>
            <a:r>
              <a:rPr dirty="0" sz="1600" b="1">
                <a:latin typeface="Arial"/>
                <a:cs typeface="Arial"/>
              </a:rPr>
              <a:t>Power</a:t>
            </a:r>
            <a:r>
              <a:rPr dirty="0" sz="1600" spc="200" b="1">
                <a:latin typeface="Arial"/>
                <a:cs typeface="Arial"/>
              </a:rPr>
              <a:t>   </a:t>
            </a:r>
            <a:r>
              <a:rPr dirty="0" sz="1600" b="1">
                <a:latin typeface="Arial"/>
                <a:cs typeface="Arial"/>
              </a:rPr>
              <a:t>BI</a:t>
            </a:r>
            <a:r>
              <a:rPr dirty="0" sz="1600" spc="195" b="1">
                <a:latin typeface="Arial"/>
                <a:cs typeface="Arial"/>
              </a:rPr>
              <a:t>   </a:t>
            </a:r>
            <a:r>
              <a:rPr dirty="0" sz="1600" b="1">
                <a:latin typeface="Arial"/>
                <a:cs typeface="Arial"/>
              </a:rPr>
              <a:t>dashboard</a:t>
            </a:r>
            <a:r>
              <a:rPr dirty="0" sz="1600" spc="200" b="1">
                <a:latin typeface="Arial"/>
                <a:cs typeface="Arial"/>
              </a:rPr>
              <a:t>   </a:t>
            </a:r>
            <a:r>
              <a:rPr dirty="0" sz="1600" spc="-25">
                <a:latin typeface="Arial"/>
                <a:cs typeface="Arial"/>
              </a:rPr>
              <a:t>with </a:t>
            </a:r>
            <a:r>
              <a:rPr dirty="0" sz="1600">
                <a:latin typeface="Arial"/>
                <a:cs typeface="Arial"/>
              </a:rPr>
              <a:t>automated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reporting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using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Zapier</a:t>
            </a:r>
            <a:endParaRPr sz="1600">
              <a:latin typeface="Arial"/>
              <a:cs typeface="Arial"/>
            </a:endParaRPr>
          </a:p>
          <a:p>
            <a:pPr algn="just" marL="297815" marR="5715" indent="-285750">
              <a:lnSpc>
                <a:spcPct val="100000"/>
              </a:lnSpc>
              <a:spcBef>
                <a:spcPts val="1200"/>
              </a:spcBef>
              <a:buChar char="•"/>
              <a:tabLst>
                <a:tab pos="297815" algn="l"/>
                <a:tab pos="300355" algn="l"/>
              </a:tabLst>
            </a:pPr>
            <a:r>
              <a:rPr dirty="0" sz="1600">
                <a:latin typeface="Arial"/>
                <a:cs typeface="Arial"/>
              </a:rPr>
              <a:t>	Applied</a:t>
            </a:r>
            <a:r>
              <a:rPr dirty="0" sz="1600" spc="135">
                <a:latin typeface="Arial"/>
                <a:cs typeface="Arial"/>
              </a:rPr>
              <a:t>  </a:t>
            </a:r>
            <a:r>
              <a:rPr dirty="0" sz="1600" b="1">
                <a:latin typeface="Arial"/>
                <a:cs typeface="Arial"/>
              </a:rPr>
              <a:t>Azure</a:t>
            </a:r>
            <a:r>
              <a:rPr dirty="0" sz="1600" spc="140" b="1">
                <a:latin typeface="Arial"/>
                <a:cs typeface="Arial"/>
              </a:rPr>
              <a:t>  </a:t>
            </a:r>
            <a:r>
              <a:rPr dirty="0" sz="1600" b="1">
                <a:latin typeface="Arial"/>
                <a:cs typeface="Arial"/>
              </a:rPr>
              <a:t>ML</a:t>
            </a:r>
            <a:r>
              <a:rPr dirty="0" sz="1600" spc="140" b="1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14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predict</a:t>
            </a:r>
            <a:r>
              <a:rPr dirty="0" sz="1600" spc="140">
                <a:latin typeface="Arial"/>
                <a:cs typeface="Arial"/>
              </a:rPr>
              <a:t>  </a:t>
            </a:r>
            <a:r>
              <a:rPr dirty="0" sz="1600" spc="-10">
                <a:latin typeface="Arial"/>
                <a:cs typeface="Arial"/>
              </a:rPr>
              <a:t>employee </a:t>
            </a:r>
            <a:r>
              <a:rPr dirty="0" sz="1600">
                <a:latin typeface="Arial"/>
                <a:cs typeface="Arial"/>
              </a:rPr>
              <a:t>attrition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risk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dirty="0" spc="-35"/>
              <a:t> </a:t>
            </a:r>
            <a:r>
              <a:rPr dirty="0" spc="-10"/>
              <a:t>Architecture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167327" y="1243200"/>
            <a:ext cx="320040" cy="384175"/>
          </a:xfrm>
          <a:custGeom>
            <a:avLst/>
            <a:gdLst/>
            <a:ahLst/>
            <a:cxnLst/>
            <a:rect l="l" t="t" r="r" b="b"/>
            <a:pathLst>
              <a:path w="320039" h="384175">
                <a:moveTo>
                  <a:pt x="320040" y="0"/>
                </a:moveTo>
                <a:lnTo>
                  <a:pt x="0" y="0"/>
                </a:lnTo>
                <a:lnTo>
                  <a:pt x="0" y="384048"/>
                </a:lnTo>
                <a:lnTo>
                  <a:pt x="320040" y="384048"/>
                </a:lnTo>
                <a:lnTo>
                  <a:pt x="320040" y="0"/>
                </a:lnTo>
                <a:close/>
              </a:path>
            </a:pathLst>
          </a:custGeom>
          <a:solidFill>
            <a:srgbClr val="1B39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35408" y="1243200"/>
            <a:ext cx="3931920" cy="384175"/>
          </a:xfrm>
          <a:prstGeom prst="rect">
            <a:avLst/>
          </a:prstGeom>
          <a:solidFill>
            <a:srgbClr val="DAE2F3"/>
          </a:solidFill>
        </p:spPr>
        <p:txBody>
          <a:bodyPr wrap="square" lIns="0" tIns="6540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515"/>
              </a:spcBef>
            </a:pPr>
            <a:r>
              <a:rPr dirty="0" sz="1600" b="1">
                <a:latin typeface="Arial"/>
                <a:cs typeface="Arial"/>
              </a:rPr>
              <a:t>Data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Input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/</a:t>
            </a:r>
            <a:r>
              <a:rPr dirty="0" sz="1600" spc="-10" b="1">
                <a:latin typeface="Arial"/>
                <a:cs typeface="Arial"/>
              </a:rPr>
              <a:t> Source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588" y="1729130"/>
            <a:ext cx="360680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3355" indent="128270">
              <a:lnSpc>
                <a:spcPct val="100000"/>
              </a:lnSpc>
              <a:spcBef>
                <a:spcPts val="100"/>
              </a:spcBef>
              <a:buChar char="•"/>
              <a:tabLst>
                <a:tab pos="140970" algn="l"/>
              </a:tabLst>
            </a:pPr>
            <a:r>
              <a:rPr dirty="0" sz="1600">
                <a:latin typeface="Arial"/>
                <a:cs typeface="Arial"/>
              </a:rPr>
              <a:t>IBM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HR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Analytics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Employee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Attrition </a:t>
            </a:r>
            <a:r>
              <a:rPr dirty="0" sz="1600">
                <a:latin typeface="Arial"/>
                <a:cs typeface="Arial"/>
              </a:rPr>
              <a:t>dataset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from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Kaggle</a:t>
            </a:r>
            <a:endParaRPr sz="1600">
              <a:latin typeface="Arial"/>
              <a:cs typeface="Arial"/>
            </a:endParaRPr>
          </a:p>
          <a:p>
            <a:pPr marL="12700" marR="5080" indent="128270">
              <a:lnSpc>
                <a:spcPct val="100000"/>
              </a:lnSpc>
              <a:buChar char="•"/>
              <a:tabLst>
                <a:tab pos="140970" algn="l"/>
              </a:tabLst>
            </a:pPr>
            <a:r>
              <a:rPr dirty="0" sz="1600">
                <a:latin typeface="Arial"/>
                <a:cs typeface="Arial"/>
              </a:rPr>
              <a:t>Contains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employee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demographics,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job </a:t>
            </a:r>
            <a:r>
              <a:rPr dirty="0" sz="1600">
                <a:latin typeface="Arial"/>
                <a:cs typeface="Arial"/>
              </a:rPr>
              <a:t>roles,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salary,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satisfaction,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attrition status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602167" y="1243200"/>
            <a:ext cx="320040" cy="384175"/>
          </a:xfrm>
          <a:custGeom>
            <a:avLst/>
            <a:gdLst/>
            <a:ahLst/>
            <a:cxnLst/>
            <a:rect l="l" t="t" r="r" b="b"/>
            <a:pathLst>
              <a:path w="320040" h="384175">
                <a:moveTo>
                  <a:pt x="320040" y="0"/>
                </a:moveTo>
                <a:lnTo>
                  <a:pt x="0" y="0"/>
                </a:lnTo>
                <a:lnTo>
                  <a:pt x="0" y="384048"/>
                </a:lnTo>
                <a:lnTo>
                  <a:pt x="320040" y="384048"/>
                </a:lnTo>
                <a:lnTo>
                  <a:pt x="320040" y="0"/>
                </a:lnTo>
                <a:close/>
              </a:path>
            </a:pathLst>
          </a:custGeom>
          <a:solidFill>
            <a:srgbClr val="1B39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670247" y="1243200"/>
            <a:ext cx="3931920" cy="384175"/>
          </a:xfrm>
          <a:prstGeom prst="rect">
            <a:avLst/>
          </a:prstGeom>
          <a:solidFill>
            <a:srgbClr val="DAE2F3"/>
          </a:solidFill>
        </p:spPr>
        <p:txBody>
          <a:bodyPr wrap="square" lIns="0" tIns="6540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515"/>
              </a:spcBef>
            </a:pPr>
            <a:r>
              <a:rPr dirty="0" sz="1600" b="1">
                <a:latin typeface="Arial"/>
                <a:cs typeface="Arial"/>
              </a:rPr>
              <a:t>Processing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/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40427" y="1729130"/>
            <a:ext cx="3684904" cy="100965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 indent="146685">
              <a:lnSpc>
                <a:spcPct val="103600"/>
              </a:lnSpc>
              <a:spcBef>
                <a:spcPts val="30"/>
              </a:spcBef>
              <a:buFont typeface="Calibri"/>
              <a:buChar char="•"/>
              <a:tabLst>
                <a:tab pos="159385" algn="l"/>
              </a:tabLst>
            </a:pPr>
            <a:r>
              <a:rPr dirty="0" sz="1600">
                <a:latin typeface="Arial"/>
                <a:cs typeface="Arial"/>
              </a:rPr>
              <a:t>Data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cleaning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preprocessing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using </a:t>
            </a:r>
            <a:r>
              <a:rPr dirty="0" sz="1600">
                <a:latin typeface="Arial"/>
                <a:cs typeface="Arial"/>
              </a:rPr>
              <a:t>Excel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1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Power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BI</a:t>
            </a:r>
            <a:endParaRPr sz="1600">
              <a:latin typeface="Arial"/>
              <a:cs typeface="Arial"/>
            </a:endParaRPr>
          </a:p>
          <a:p>
            <a:pPr marL="12700" marR="365125" indent="128270">
              <a:lnSpc>
                <a:spcPct val="100000"/>
              </a:lnSpc>
              <a:buChar char="•"/>
              <a:tabLst>
                <a:tab pos="140970" algn="l"/>
              </a:tabLst>
            </a:pPr>
            <a:r>
              <a:rPr dirty="0" sz="1600">
                <a:latin typeface="Arial"/>
                <a:cs typeface="Arial"/>
              </a:rPr>
              <a:t>KPI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calculation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using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DAX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(Attrition </a:t>
            </a:r>
            <a:r>
              <a:rPr dirty="0" sz="1600">
                <a:latin typeface="Arial"/>
                <a:cs typeface="Arial"/>
              </a:rPr>
              <a:t>Rate,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Tenure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Groups,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Salary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Bands)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167327" y="2969856"/>
            <a:ext cx="320040" cy="384175"/>
          </a:xfrm>
          <a:custGeom>
            <a:avLst/>
            <a:gdLst/>
            <a:ahLst/>
            <a:cxnLst/>
            <a:rect l="l" t="t" r="r" b="b"/>
            <a:pathLst>
              <a:path w="320039" h="384175">
                <a:moveTo>
                  <a:pt x="320040" y="0"/>
                </a:moveTo>
                <a:lnTo>
                  <a:pt x="0" y="0"/>
                </a:lnTo>
                <a:lnTo>
                  <a:pt x="0" y="384048"/>
                </a:lnTo>
                <a:lnTo>
                  <a:pt x="320040" y="384048"/>
                </a:lnTo>
                <a:lnTo>
                  <a:pt x="320040" y="0"/>
                </a:lnTo>
                <a:close/>
              </a:path>
            </a:pathLst>
          </a:custGeom>
          <a:solidFill>
            <a:srgbClr val="1B39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35408" y="2969856"/>
            <a:ext cx="3931920" cy="384175"/>
          </a:xfrm>
          <a:prstGeom prst="rect">
            <a:avLst/>
          </a:prstGeom>
          <a:solidFill>
            <a:srgbClr val="DAE2F3"/>
          </a:solidFill>
        </p:spPr>
        <p:txBody>
          <a:bodyPr wrap="square" lIns="0" tIns="6540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515"/>
              </a:spcBef>
            </a:pPr>
            <a:r>
              <a:rPr dirty="0" sz="1600" b="1">
                <a:latin typeface="Arial"/>
                <a:cs typeface="Arial"/>
              </a:rPr>
              <a:t>AI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/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Tool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Integration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5588" y="3455784"/>
            <a:ext cx="384492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8270">
              <a:lnSpc>
                <a:spcPct val="100000"/>
              </a:lnSpc>
              <a:spcBef>
                <a:spcPts val="100"/>
              </a:spcBef>
              <a:buChar char="•"/>
              <a:tabLst>
                <a:tab pos="140970" algn="l"/>
              </a:tabLst>
            </a:pPr>
            <a:r>
              <a:rPr dirty="0" sz="1600">
                <a:latin typeface="Arial"/>
                <a:cs typeface="Arial"/>
              </a:rPr>
              <a:t>Power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BI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visualization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dashboard creation</a:t>
            </a:r>
            <a:endParaRPr sz="1600">
              <a:latin typeface="Arial"/>
              <a:cs typeface="Arial"/>
            </a:endParaRPr>
          </a:p>
          <a:p>
            <a:pPr marL="12700" marR="40005" indent="128270">
              <a:lnSpc>
                <a:spcPct val="100000"/>
              </a:lnSpc>
              <a:buChar char="•"/>
              <a:tabLst>
                <a:tab pos="140970" algn="l"/>
              </a:tabLst>
            </a:pPr>
            <a:r>
              <a:rPr dirty="0" sz="1600">
                <a:latin typeface="Arial"/>
                <a:cs typeface="Arial"/>
              </a:rPr>
              <a:t>AI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tools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(ChatGPT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/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Copilot),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Zapier,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and </a:t>
            </a:r>
            <a:r>
              <a:rPr dirty="0" sz="1600">
                <a:latin typeface="Arial"/>
                <a:cs typeface="Arial"/>
              </a:rPr>
              <a:t>Azure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ML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insight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generation, </a:t>
            </a:r>
            <a:r>
              <a:rPr dirty="0" sz="1600">
                <a:latin typeface="Arial"/>
                <a:cs typeface="Arial"/>
              </a:rPr>
              <a:t>automation,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predictive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analytics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8602167" y="2969856"/>
            <a:ext cx="320040" cy="384175"/>
          </a:xfrm>
          <a:custGeom>
            <a:avLst/>
            <a:gdLst/>
            <a:ahLst/>
            <a:cxnLst/>
            <a:rect l="l" t="t" r="r" b="b"/>
            <a:pathLst>
              <a:path w="320040" h="384175">
                <a:moveTo>
                  <a:pt x="320040" y="0"/>
                </a:moveTo>
                <a:lnTo>
                  <a:pt x="0" y="0"/>
                </a:lnTo>
                <a:lnTo>
                  <a:pt x="0" y="384048"/>
                </a:lnTo>
                <a:lnTo>
                  <a:pt x="320040" y="384048"/>
                </a:lnTo>
                <a:lnTo>
                  <a:pt x="320040" y="0"/>
                </a:lnTo>
                <a:close/>
              </a:path>
            </a:pathLst>
          </a:custGeom>
          <a:solidFill>
            <a:srgbClr val="1B39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670247" y="2969856"/>
            <a:ext cx="3931920" cy="384175"/>
          </a:xfrm>
          <a:prstGeom prst="rect">
            <a:avLst/>
          </a:prstGeom>
          <a:solidFill>
            <a:srgbClr val="DAE2F3"/>
          </a:solidFill>
        </p:spPr>
        <p:txBody>
          <a:bodyPr wrap="square" lIns="0" tIns="6540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515"/>
              </a:spcBef>
            </a:pPr>
            <a:r>
              <a:rPr dirty="0" sz="1600" b="1">
                <a:latin typeface="Arial"/>
                <a:cs typeface="Arial"/>
              </a:rPr>
              <a:t>Output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/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Dashboard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40427" y="3455784"/>
            <a:ext cx="3788410" cy="1000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8270">
              <a:lnSpc>
                <a:spcPct val="100000"/>
              </a:lnSpc>
              <a:spcBef>
                <a:spcPts val="100"/>
              </a:spcBef>
              <a:buChar char="•"/>
              <a:tabLst>
                <a:tab pos="140970" algn="l"/>
              </a:tabLst>
            </a:pPr>
            <a:r>
              <a:rPr dirty="0" sz="1600">
                <a:latin typeface="Arial"/>
                <a:cs typeface="Arial"/>
              </a:rPr>
              <a:t>Interactive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Power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BI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dashboard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with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KPI </a:t>
            </a:r>
            <a:r>
              <a:rPr dirty="0" sz="1600">
                <a:latin typeface="Arial"/>
                <a:cs typeface="Arial"/>
              </a:rPr>
              <a:t>cards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visualizations</a:t>
            </a:r>
            <a:endParaRPr sz="1600">
              <a:latin typeface="Arial"/>
              <a:cs typeface="Arial"/>
            </a:endParaRPr>
          </a:p>
          <a:p>
            <a:pPr marL="12700" marR="274955" indent="128270">
              <a:lnSpc>
                <a:spcPct val="100000"/>
              </a:lnSpc>
              <a:buFont typeface="Arial"/>
              <a:buChar char="•"/>
              <a:tabLst>
                <a:tab pos="140970" algn="l"/>
              </a:tabLst>
            </a:pPr>
            <a:r>
              <a:rPr dirty="0" sz="1600">
                <a:latin typeface="Calibri"/>
                <a:cs typeface="Calibri"/>
              </a:rPr>
              <a:t>Automated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reporting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Zapier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for </a:t>
            </a:r>
            <a:r>
              <a:rPr dirty="0" sz="1600" spc="-10">
                <a:latin typeface="Calibri"/>
                <a:cs typeface="Calibri"/>
              </a:rPr>
              <a:t>real-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updates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email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alerts.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Live</a:t>
            </a:r>
            <a:r>
              <a:rPr dirty="0" spc="-40"/>
              <a:t> </a:t>
            </a:r>
            <a:r>
              <a:rPr dirty="0"/>
              <a:t>Demo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4226" y="1111159"/>
            <a:ext cx="66713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Here's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list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some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demo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screenshots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/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features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0">
                <a:latin typeface="Arial"/>
                <a:cs typeface="Arial"/>
              </a:rPr>
              <a:t> project: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41029" y="1629181"/>
            <a:ext cx="2801620" cy="3253104"/>
            <a:chOff x="241029" y="1629181"/>
            <a:chExt cx="2801620" cy="3253104"/>
          </a:xfrm>
        </p:grpSpPr>
        <p:sp>
          <p:nvSpPr>
            <p:cNvPr id="5" name="object 5" descr=""/>
            <p:cNvSpPr/>
            <p:nvPr/>
          </p:nvSpPr>
          <p:spPr>
            <a:xfrm>
              <a:off x="978407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7125" y="1735"/>
                  </a:lnTo>
                  <a:lnTo>
                    <a:pt x="589327" y="6862"/>
                  </a:lnTo>
                  <a:lnTo>
                    <a:pt x="542524" y="15261"/>
                  </a:lnTo>
                  <a:lnTo>
                    <a:pt x="496836" y="26812"/>
                  </a:lnTo>
                  <a:lnTo>
                    <a:pt x="452383" y="41394"/>
                  </a:lnTo>
                  <a:lnTo>
                    <a:pt x="409285" y="58889"/>
                  </a:lnTo>
                  <a:lnTo>
                    <a:pt x="367662" y="79177"/>
                  </a:lnTo>
                  <a:lnTo>
                    <a:pt x="327633" y="102137"/>
                  </a:lnTo>
                  <a:lnTo>
                    <a:pt x="289318" y="127650"/>
                  </a:lnTo>
                  <a:lnTo>
                    <a:pt x="252838" y="155596"/>
                  </a:lnTo>
                  <a:lnTo>
                    <a:pt x="218311" y="185855"/>
                  </a:lnTo>
                  <a:lnTo>
                    <a:pt x="185858" y="218308"/>
                  </a:lnTo>
                  <a:lnTo>
                    <a:pt x="155598" y="252835"/>
                  </a:lnTo>
                  <a:lnTo>
                    <a:pt x="127652" y="289315"/>
                  </a:lnTo>
                  <a:lnTo>
                    <a:pt x="102138" y="327630"/>
                  </a:lnTo>
                  <a:lnTo>
                    <a:pt x="79178" y="367659"/>
                  </a:lnTo>
                  <a:lnTo>
                    <a:pt x="58890" y="409282"/>
                  </a:lnTo>
                  <a:lnTo>
                    <a:pt x="41395" y="452381"/>
                  </a:lnTo>
                  <a:lnTo>
                    <a:pt x="26812" y="496834"/>
                  </a:lnTo>
                  <a:lnTo>
                    <a:pt x="15261" y="542522"/>
                  </a:lnTo>
                  <a:lnTo>
                    <a:pt x="6862" y="589326"/>
                  </a:lnTo>
                  <a:lnTo>
                    <a:pt x="1735" y="637125"/>
                  </a:lnTo>
                  <a:lnTo>
                    <a:pt x="0" y="685800"/>
                  </a:lnTo>
                  <a:lnTo>
                    <a:pt x="1735" y="734474"/>
                  </a:lnTo>
                  <a:lnTo>
                    <a:pt x="6862" y="782273"/>
                  </a:lnTo>
                  <a:lnTo>
                    <a:pt x="15261" y="829077"/>
                  </a:lnTo>
                  <a:lnTo>
                    <a:pt x="26812" y="874765"/>
                  </a:lnTo>
                  <a:lnTo>
                    <a:pt x="41395" y="919218"/>
                  </a:lnTo>
                  <a:lnTo>
                    <a:pt x="58890" y="962317"/>
                  </a:lnTo>
                  <a:lnTo>
                    <a:pt x="79178" y="1003940"/>
                  </a:lnTo>
                  <a:lnTo>
                    <a:pt x="102138" y="1043969"/>
                  </a:lnTo>
                  <a:lnTo>
                    <a:pt x="127652" y="1082284"/>
                  </a:lnTo>
                  <a:lnTo>
                    <a:pt x="155598" y="1118764"/>
                  </a:lnTo>
                  <a:lnTo>
                    <a:pt x="185858" y="1153291"/>
                  </a:lnTo>
                  <a:lnTo>
                    <a:pt x="218311" y="1185744"/>
                  </a:lnTo>
                  <a:lnTo>
                    <a:pt x="252838" y="1216003"/>
                  </a:lnTo>
                  <a:lnTo>
                    <a:pt x="289318" y="1243949"/>
                  </a:lnTo>
                  <a:lnTo>
                    <a:pt x="327633" y="1269462"/>
                  </a:lnTo>
                  <a:lnTo>
                    <a:pt x="367662" y="1292422"/>
                  </a:lnTo>
                  <a:lnTo>
                    <a:pt x="409285" y="1312710"/>
                  </a:lnTo>
                  <a:lnTo>
                    <a:pt x="452383" y="1330205"/>
                  </a:lnTo>
                  <a:lnTo>
                    <a:pt x="496836" y="1344787"/>
                  </a:lnTo>
                  <a:lnTo>
                    <a:pt x="542524" y="1356338"/>
                  </a:lnTo>
                  <a:lnTo>
                    <a:pt x="589327" y="1364737"/>
                  </a:lnTo>
                  <a:lnTo>
                    <a:pt x="637125" y="1369864"/>
                  </a:lnTo>
                  <a:lnTo>
                    <a:pt x="685800" y="1371600"/>
                  </a:lnTo>
                  <a:lnTo>
                    <a:pt x="734474" y="1369864"/>
                  </a:lnTo>
                  <a:lnTo>
                    <a:pt x="782272" y="1364737"/>
                  </a:lnTo>
                  <a:lnTo>
                    <a:pt x="829075" y="1356338"/>
                  </a:lnTo>
                  <a:lnTo>
                    <a:pt x="874763" y="1344787"/>
                  </a:lnTo>
                  <a:lnTo>
                    <a:pt x="919216" y="1330205"/>
                  </a:lnTo>
                  <a:lnTo>
                    <a:pt x="962314" y="1312710"/>
                  </a:lnTo>
                  <a:lnTo>
                    <a:pt x="1003937" y="1292422"/>
                  </a:lnTo>
                  <a:lnTo>
                    <a:pt x="1043966" y="1269462"/>
                  </a:lnTo>
                  <a:lnTo>
                    <a:pt x="1082281" y="1243949"/>
                  </a:lnTo>
                  <a:lnTo>
                    <a:pt x="1118761" y="1216003"/>
                  </a:lnTo>
                  <a:lnTo>
                    <a:pt x="1153288" y="1185744"/>
                  </a:lnTo>
                  <a:lnTo>
                    <a:pt x="1185741" y="1153291"/>
                  </a:lnTo>
                  <a:lnTo>
                    <a:pt x="1216001" y="1118764"/>
                  </a:lnTo>
                  <a:lnTo>
                    <a:pt x="1243947" y="1082284"/>
                  </a:lnTo>
                  <a:lnTo>
                    <a:pt x="1269461" y="1043969"/>
                  </a:lnTo>
                  <a:lnTo>
                    <a:pt x="1292421" y="1003940"/>
                  </a:lnTo>
                  <a:lnTo>
                    <a:pt x="1312709" y="962317"/>
                  </a:lnTo>
                  <a:lnTo>
                    <a:pt x="1330204" y="919218"/>
                  </a:lnTo>
                  <a:lnTo>
                    <a:pt x="1344787" y="874765"/>
                  </a:lnTo>
                  <a:lnTo>
                    <a:pt x="1356338" y="829077"/>
                  </a:lnTo>
                  <a:lnTo>
                    <a:pt x="1364737" y="782273"/>
                  </a:lnTo>
                  <a:lnTo>
                    <a:pt x="1369864" y="734474"/>
                  </a:lnTo>
                  <a:lnTo>
                    <a:pt x="1371600" y="685800"/>
                  </a:lnTo>
                  <a:lnTo>
                    <a:pt x="1369864" y="637125"/>
                  </a:lnTo>
                  <a:lnTo>
                    <a:pt x="1364737" y="589326"/>
                  </a:lnTo>
                  <a:lnTo>
                    <a:pt x="1356338" y="542522"/>
                  </a:lnTo>
                  <a:lnTo>
                    <a:pt x="1344787" y="496834"/>
                  </a:lnTo>
                  <a:lnTo>
                    <a:pt x="1330204" y="452381"/>
                  </a:lnTo>
                  <a:lnTo>
                    <a:pt x="1312709" y="409282"/>
                  </a:lnTo>
                  <a:lnTo>
                    <a:pt x="1292421" y="367659"/>
                  </a:lnTo>
                  <a:lnTo>
                    <a:pt x="1269461" y="327630"/>
                  </a:lnTo>
                  <a:lnTo>
                    <a:pt x="1243947" y="289315"/>
                  </a:lnTo>
                  <a:lnTo>
                    <a:pt x="1216001" y="252835"/>
                  </a:lnTo>
                  <a:lnTo>
                    <a:pt x="1185741" y="218308"/>
                  </a:lnTo>
                  <a:lnTo>
                    <a:pt x="1153288" y="185855"/>
                  </a:lnTo>
                  <a:lnTo>
                    <a:pt x="1118761" y="155596"/>
                  </a:lnTo>
                  <a:lnTo>
                    <a:pt x="1082281" y="127650"/>
                  </a:lnTo>
                  <a:lnTo>
                    <a:pt x="1043966" y="102137"/>
                  </a:lnTo>
                  <a:lnTo>
                    <a:pt x="1003937" y="79177"/>
                  </a:lnTo>
                  <a:lnTo>
                    <a:pt x="962314" y="58889"/>
                  </a:lnTo>
                  <a:lnTo>
                    <a:pt x="919216" y="41394"/>
                  </a:lnTo>
                  <a:lnTo>
                    <a:pt x="874763" y="26812"/>
                  </a:lnTo>
                  <a:lnTo>
                    <a:pt x="829075" y="15261"/>
                  </a:lnTo>
                  <a:lnTo>
                    <a:pt x="782272" y="6862"/>
                  </a:lnTo>
                  <a:lnTo>
                    <a:pt x="734474" y="173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1464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78407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35" y="637125"/>
                  </a:lnTo>
                  <a:lnTo>
                    <a:pt x="6862" y="589326"/>
                  </a:lnTo>
                  <a:lnTo>
                    <a:pt x="15261" y="542522"/>
                  </a:lnTo>
                  <a:lnTo>
                    <a:pt x="26812" y="496834"/>
                  </a:lnTo>
                  <a:lnTo>
                    <a:pt x="41395" y="452381"/>
                  </a:lnTo>
                  <a:lnTo>
                    <a:pt x="58890" y="409282"/>
                  </a:lnTo>
                  <a:lnTo>
                    <a:pt x="79178" y="367659"/>
                  </a:lnTo>
                  <a:lnTo>
                    <a:pt x="102138" y="327630"/>
                  </a:lnTo>
                  <a:lnTo>
                    <a:pt x="127652" y="289315"/>
                  </a:lnTo>
                  <a:lnTo>
                    <a:pt x="155598" y="252835"/>
                  </a:lnTo>
                  <a:lnTo>
                    <a:pt x="185858" y="218308"/>
                  </a:lnTo>
                  <a:lnTo>
                    <a:pt x="218311" y="185855"/>
                  </a:lnTo>
                  <a:lnTo>
                    <a:pt x="252838" y="155596"/>
                  </a:lnTo>
                  <a:lnTo>
                    <a:pt x="289318" y="127650"/>
                  </a:lnTo>
                  <a:lnTo>
                    <a:pt x="327633" y="102137"/>
                  </a:lnTo>
                  <a:lnTo>
                    <a:pt x="367662" y="79177"/>
                  </a:lnTo>
                  <a:lnTo>
                    <a:pt x="409285" y="58889"/>
                  </a:lnTo>
                  <a:lnTo>
                    <a:pt x="452383" y="41394"/>
                  </a:lnTo>
                  <a:lnTo>
                    <a:pt x="496836" y="26812"/>
                  </a:lnTo>
                  <a:lnTo>
                    <a:pt x="542524" y="15261"/>
                  </a:lnTo>
                  <a:lnTo>
                    <a:pt x="589327" y="6862"/>
                  </a:lnTo>
                  <a:lnTo>
                    <a:pt x="637125" y="1735"/>
                  </a:lnTo>
                  <a:lnTo>
                    <a:pt x="685800" y="0"/>
                  </a:lnTo>
                  <a:lnTo>
                    <a:pt x="734474" y="1735"/>
                  </a:lnTo>
                  <a:lnTo>
                    <a:pt x="782272" y="6862"/>
                  </a:lnTo>
                  <a:lnTo>
                    <a:pt x="829075" y="15261"/>
                  </a:lnTo>
                  <a:lnTo>
                    <a:pt x="874763" y="26812"/>
                  </a:lnTo>
                  <a:lnTo>
                    <a:pt x="919216" y="41394"/>
                  </a:lnTo>
                  <a:lnTo>
                    <a:pt x="962314" y="58889"/>
                  </a:lnTo>
                  <a:lnTo>
                    <a:pt x="1003937" y="79177"/>
                  </a:lnTo>
                  <a:lnTo>
                    <a:pt x="1043966" y="102137"/>
                  </a:lnTo>
                  <a:lnTo>
                    <a:pt x="1082281" y="127650"/>
                  </a:lnTo>
                  <a:lnTo>
                    <a:pt x="1118761" y="155596"/>
                  </a:lnTo>
                  <a:lnTo>
                    <a:pt x="1153288" y="185855"/>
                  </a:lnTo>
                  <a:lnTo>
                    <a:pt x="1185741" y="218308"/>
                  </a:lnTo>
                  <a:lnTo>
                    <a:pt x="1216001" y="252835"/>
                  </a:lnTo>
                  <a:lnTo>
                    <a:pt x="1243947" y="289315"/>
                  </a:lnTo>
                  <a:lnTo>
                    <a:pt x="1269461" y="327630"/>
                  </a:lnTo>
                  <a:lnTo>
                    <a:pt x="1292421" y="367659"/>
                  </a:lnTo>
                  <a:lnTo>
                    <a:pt x="1312709" y="409282"/>
                  </a:lnTo>
                  <a:lnTo>
                    <a:pt x="1330204" y="452381"/>
                  </a:lnTo>
                  <a:lnTo>
                    <a:pt x="1344787" y="496834"/>
                  </a:lnTo>
                  <a:lnTo>
                    <a:pt x="1356338" y="542522"/>
                  </a:lnTo>
                  <a:lnTo>
                    <a:pt x="1364737" y="589326"/>
                  </a:lnTo>
                  <a:lnTo>
                    <a:pt x="1369864" y="637125"/>
                  </a:lnTo>
                  <a:lnTo>
                    <a:pt x="1371600" y="685800"/>
                  </a:lnTo>
                  <a:lnTo>
                    <a:pt x="1369864" y="734474"/>
                  </a:lnTo>
                  <a:lnTo>
                    <a:pt x="1364737" y="782273"/>
                  </a:lnTo>
                  <a:lnTo>
                    <a:pt x="1356338" y="829077"/>
                  </a:lnTo>
                  <a:lnTo>
                    <a:pt x="1344787" y="874765"/>
                  </a:lnTo>
                  <a:lnTo>
                    <a:pt x="1330204" y="919218"/>
                  </a:lnTo>
                  <a:lnTo>
                    <a:pt x="1312709" y="962317"/>
                  </a:lnTo>
                  <a:lnTo>
                    <a:pt x="1292421" y="1003940"/>
                  </a:lnTo>
                  <a:lnTo>
                    <a:pt x="1269461" y="1043969"/>
                  </a:lnTo>
                  <a:lnTo>
                    <a:pt x="1243947" y="1082284"/>
                  </a:lnTo>
                  <a:lnTo>
                    <a:pt x="1216001" y="1118764"/>
                  </a:lnTo>
                  <a:lnTo>
                    <a:pt x="1185741" y="1153291"/>
                  </a:lnTo>
                  <a:lnTo>
                    <a:pt x="1153288" y="1185744"/>
                  </a:lnTo>
                  <a:lnTo>
                    <a:pt x="1118761" y="1216003"/>
                  </a:lnTo>
                  <a:lnTo>
                    <a:pt x="1082281" y="1243949"/>
                  </a:lnTo>
                  <a:lnTo>
                    <a:pt x="1043966" y="1269462"/>
                  </a:lnTo>
                  <a:lnTo>
                    <a:pt x="1003937" y="1292422"/>
                  </a:lnTo>
                  <a:lnTo>
                    <a:pt x="962314" y="1312710"/>
                  </a:lnTo>
                  <a:lnTo>
                    <a:pt x="919216" y="1330205"/>
                  </a:lnTo>
                  <a:lnTo>
                    <a:pt x="874763" y="1344787"/>
                  </a:lnTo>
                  <a:lnTo>
                    <a:pt x="829075" y="1356338"/>
                  </a:lnTo>
                  <a:lnTo>
                    <a:pt x="782272" y="1364737"/>
                  </a:lnTo>
                  <a:lnTo>
                    <a:pt x="734474" y="1369864"/>
                  </a:lnTo>
                  <a:lnTo>
                    <a:pt x="685800" y="1371600"/>
                  </a:lnTo>
                  <a:lnTo>
                    <a:pt x="637125" y="1369864"/>
                  </a:lnTo>
                  <a:lnTo>
                    <a:pt x="589327" y="1364737"/>
                  </a:lnTo>
                  <a:lnTo>
                    <a:pt x="542524" y="1356338"/>
                  </a:lnTo>
                  <a:lnTo>
                    <a:pt x="496836" y="1344787"/>
                  </a:lnTo>
                  <a:lnTo>
                    <a:pt x="452383" y="1330205"/>
                  </a:lnTo>
                  <a:lnTo>
                    <a:pt x="409285" y="1312710"/>
                  </a:lnTo>
                  <a:lnTo>
                    <a:pt x="367662" y="1292422"/>
                  </a:lnTo>
                  <a:lnTo>
                    <a:pt x="327633" y="1269462"/>
                  </a:lnTo>
                  <a:lnTo>
                    <a:pt x="289318" y="1243949"/>
                  </a:lnTo>
                  <a:lnTo>
                    <a:pt x="252838" y="1216003"/>
                  </a:lnTo>
                  <a:lnTo>
                    <a:pt x="218311" y="1185744"/>
                  </a:lnTo>
                  <a:lnTo>
                    <a:pt x="185858" y="1153291"/>
                  </a:lnTo>
                  <a:lnTo>
                    <a:pt x="155598" y="1118764"/>
                  </a:lnTo>
                  <a:lnTo>
                    <a:pt x="127652" y="1082284"/>
                  </a:lnTo>
                  <a:lnTo>
                    <a:pt x="102138" y="1043969"/>
                  </a:lnTo>
                  <a:lnTo>
                    <a:pt x="79178" y="1003940"/>
                  </a:lnTo>
                  <a:lnTo>
                    <a:pt x="58890" y="962317"/>
                  </a:lnTo>
                  <a:lnTo>
                    <a:pt x="41395" y="919218"/>
                  </a:lnTo>
                  <a:lnTo>
                    <a:pt x="26812" y="874765"/>
                  </a:lnTo>
                  <a:lnTo>
                    <a:pt x="15261" y="829077"/>
                  </a:lnTo>
                  <a:lnTo>
                    <a:pt x="6862" y="782273"/>
                  </a:lnTo>
                  <a:lnTo>
                    <a:pt x="1735" y="734474"/>
                  </a:lnTo>
                  <a:lnTo>
                    <a:pt x="0" y="685800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41029" y="2217470"/>
              <a:ext cx="2801620" cy="2664460"/>
            </a:xfrm>
            <a:custGeom>
              <a:avLst/>
              <a:gdLst/>
              <a:ahLst/>
              <a:cxnLst/>
              <a:rect l="l" t="t" r="r" b="b"/>
              <a:pathLst>
                <a:path w="2801620" h="2664460">
                  <a:moveTo>
                    <a:pt x="2801620" y="0"/>
                  </a:moveTo>
                  <a:lnTo>
                    <a:pt x="0" y="0"/>
                  </a:lnTo>
                  <a:lnTo>
                    <a:pt x="0" y="2664460"/>
                  </a:lnTo>
                  <a:lnTo>
                    <a:pt x="2801620" y="2664460"/>
                  </a:lnTo>
                  <a:lnTo>
                    <a:pt x="280162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274320" y="2196871"/>
            <a:ext cx="2788920" cy="265176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622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9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latin typeface="Arial"/>
                <a:cs typeface="Arial"/>
              </a:rPr>
              <a:t>Demo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50" b="1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600">
              <a:latin typeface="Arial"/>
              <a:cs typeface="Arial"/>
            </a:endParaRPr>
          </a:p>
          <a:p>
            <a:pPr marL="665480" marR="303530" indent="-49149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EXECUTIVE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OVERVIEW DASHBOARD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212236" y="1629181"/>
            <a:ext cx="2801620" cy="3248660"/>
            <a:chOff x="3212236" y="1629181"/>
            <a:chExt cx="2801620" cy="3248660"/>
          </a:xfrm>
        </p:grpSpPr>
        <p:sp>
          <p:nvSpPr>
            <p:cNvPr id="10" name="object 10" descr=""/>
            <p:cNvSpPr/>
            <p:nvPr/>
          </p:nvSpPr>
          <p:spPr>
            <a:xfrm>
              <a:off x="3922776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7125" y="1735"/>
                  </a:lnTo>
                  <a:lnTo>
                    <a:pt x="589327" y="6862"/>
                  </a:lnTo>
                  <a:lnTo>
                    <a:pt x="542524" y="15261"/>
                  </a:lnTo>
                  <a:lnTo>
                    <a:pt x="496836" y="26812"/>
                  </a:lnTo>
                  <a:lnTo>
                    <a:pt x="452383" y="41394"/>
                  </a:lnTo>
                  <a:lnTo>
                    <a:pt x="409285" y="58889"/>
                  </a:lnTo>
                  <a:lnTo>
                    <a:pt x="367662" y="79177"/>
                  </a:lnTo>
                  <a:lnTo>
                    <a:pt x="327633" y="102137"/>
                  </a:lnTo>
                  <a:lnTo>
                    <a:pt x="289318" y="127650"/>
                  </a:lnTo>
                  <a:lnTo>
                    <a:pt x="252838" y="155596"/>
                  </a:lnTo>
                  <a:lnTo>
                    <a:pt x="218311" y="185855"/>
                  </a:lnTo>
                  <a:lnTo>
                    <a:pt x="185858" y="218308"/>
                  </a:lnTo>
                  <a:lnTo>
                    <a:pt x="155598" y="252835"/>
                  </a:lnTo>
                  <a:lnTo>
                    <a:pt x="127652" y="289315"/>
                  </a:lnTo>
                  <a:lnTo>
                    <a:pt x="102138" y="327630"/>
                  </a:lnTo>
                  <a:lnTo>
                    <a:pt x="79178" y="367659"/>
                  </a:lnTo>
                  <a:lnTo>
                    <a:pt x="58890" y="409282"/>
                  </a:lnTo>
                  <a:lnTo>
                    <a:pt x="41395" y="452381"/>
                  </a:lnTo>
                  <a:lnTo>
                    <a:pt x="26812" y="496834"/>
                  </a:lnTo>
                  <a:lnTo>
                    <a:pt x="15261" y="542522"/>
                  </a:lnTo>
                  <a:lnTo>
                    <a:pt x="6862" y="589326"/>
                  </a:lnTo>
                  <a:lnTo>
                    <a:pt x="1735" y="637125"/>
                  </a:lnTo>
                  <a:lnTo>
                    <a:pt x="0" y="685800"/>
                  </a:lnTo>
                  <a:lnTo>
                    <a:pt x="1735" y="734474"/>
                  </a:lnTo>
                  <a:lnTo>
                    <a:pt x="6862" y="782273"/>
                  </a:lnTo>
                  <a:lnTo>
                    <a:pt x="15261" y="829077"/>
                  </a:lnTo>
                  <a:lnTo>
                    <a:pt x="26812" y="874765"/>
                  </a:lnTo>
                  <a:lnTo>
                    <a:pt x="41395" y="919218"/>
                  </a:lnTo>
                  <a:lnTo>
                    <a:pt x="58890" y="962317"/>
                  </a:lnTo>
                  <a:lnTo>
                    <a:pt x="79178" y="1003940"/>
                  </a:lnTo>
                  <a:lnTo>
                    <a:pt x="102138" y="1043969"/>
                  </a:lnTo>
                  <a:lnTo>
                    <a:pt x="127652" y="1082284"/>
                  </a:lnTo>
                  <a:lnTo>
                    <a:pt x="155598" y="1118764"/>
                  </a:lnTo>
                  <a:lnTo>
                    <a:pt x="185858" y="1153291"/>
                  </a:lnTo>
                  <a:lnTo>
                    <a:pt x="218311" y="1185744"/>
                  </a:lnTo>
                  <a:lnTo>
                    <a:pt x="252838" y="1216003"/>
                  </a:lnTo>
                  <a:lnTo>
                    <a:pt x="289318" y="1243949"/>
                  </a:lnTo>
                  <a:lnTo>
                    <a:pt x="327633" y="1269462"/>
                  </a:lnTo>
                  <a:lnTo>
                    <a:pt x="367662" y="1292422"/>
                  </a:lnTo>
                  <a:lnTo>
                    <a:pt x="409285" y="1312710"/>
                  </a:lnTo>
                  <a:lnTo>
                    <a:pt x="452383" y="1330205"/>
                  </a:lnTo>
                  <a:lnTo>
                    <a:pt x="496836" y="1344787"/>
                  </a:lnTo>
                  <a:lnTo>
                    <a:pt x="542524" y="1356338"/>
                  </a:lnTo>
                  <a:lnTo>
                    <a:pt x="589327" y="1364737"/>
                  </a:lnTo>
                  <a:lnTo>
                    <a:pt x="637125" y="1369864"/>
                  </a:lnTo>
                  <a:lnTo>
                    <a:pt x="685800" y="1371600"/>
                  </a:lnTo>
                  <a:lnTo>
                    <a:pt x="734474" y="1369864"/>
                  </a:lnTo>
                  <a:lnTo>
                    <a:pt x="782272" y="1364737"/>
                  </a:lnTo>
                  <a:lnTo>
                    <a:pt x="829075" y="1356338"/>
                  </a:lnTo>
                  <a:lnTo>
                    <a:pt x="874763" y="1344787"/>
                  </a:lnTo>
                  <a:lnTo>
                    <a:pt x="919216" y="1330205"/>
                  </a:lnTo>
                  <a:lnTo>
                    <a:pt x="962314" y="1312710"/>
                  </a:lnTo>
                  <a:lnTo>
                    <a:pt x="1003937" y="1292422"/>
                  </a:lnTo>
                  <a:lnTo>
                    <a:pt x="1043966" y="1269462"/>
                  </a:lnTo>
                  <a:lnTo>
                    <a:pt x="1082281" y="1243949"/>
                  </a:lnTo>
                  <a:lnTo>
                    <a:pt x="1118761" y="1216003"/>
                  </a:lnTo>
                  <a:lnTo>
                    <a:pt x="1153288" y="1185744"/>
                  </a:lnTo>
                  <a:lnTo>
                    <a:pt x="1185741" y="1153291"/>
                  </a:lnTo>
                  <a:lnTo>
                    <a:pt x="1216001" y="1118764"/>
                  </a:lnTo>
                  <a:lnTo>
                    <a:pt x="1243947" y="1082284"/>
                  </a:lnTo>
                  <a:lnTo>
                    <a:pt x="1269461" y="1043969"/>
                  </a:lnTo>
                  <a:lnTo>
                    <a:pt x="1292421" y="1003940"/>
                  </a:lnTo>
                  <a:lnTo>
                    <a:pt x="1312709" y="962317"/>
                  </a:lnTo>
                  <a:lnTo>
                    <a:pt x="1330204" y="919218"/>
                  </a:lnTo>
                  <a:lnTo>
                    <a:pt x="1344787" y="874765"/>
                  </a:lnTo>
                  <a:lnTo>
                    <a:pt x="1356338" y="829077"/>
                  </a:lnTo>
                  <a:lnTo>
                    <a:pt x="1364737" y="782273"/>
                  </a:lnTo>
                  <a:lnTo>
                    <a:pt x="1369864" y="734474"/>
                  </a:lnTo>
                  <a:lnTo>
                    <a:pt x="1371600" y="685800"/>
                  </a:lnTo>
                  <a:lnTo>
                    <a:pt x="1369864" y="637125"/>
                  </a:lnTo>
                  <a:lnTo>
                    <a:pt x="1364737" y="589326"/>
                  </a:lnTo>
                  <a:lnTo>
                    <a:pt x="1356338" y="542522"/>
                  </a:lnTo>
                  <a:lnTo>
                    <a:pt x="1344787" y="496834"/>
                  </a:lnTo>
                  <a:lnTo>
                    <a:pt x="1330204" y="452381"/>
                  </a:lnTo>
                  <a:lnTo>
                    <a:pt x="1312709" y="409282"/>
                  </a:lnTo>
                  <a:lnTo>
                    <a:pt x="1292421" y="367659"/>
                  </a:lnTo>
                  <a:lnTo>
                    <a:pt x="1269461" y="327630"/>
                  </a:lnTo>
                  <a:lnTo>
                    <a:pt x="1243947" y="289315"/>
                  </a:lnTo>
                  <a:lnTo>
                    <a:pt x="1216001" y="252835"/>
                  </a:lnTo>
                  <a:lnTo>
                    <a:pt x="1185741" y="218308"/>
                  </a:lnTo>
                  <a:lnTo>
                    <a:pt x="1153288" y="185855"/>
                  </a:lnTo>
                  <a:lnTo>
                    <a:pt x="1118761" y="155596"/>
                  </a:lnTo>
                  <a:lnTo>
                    <a:pt x="1082281" y="127650"/>
                  </a:lnTo>
                  <a:lnTo>
                    <a:pt x="1043966" y="102137"/>
                  </a:lnTo>
                  <a:lnTo>
                    <a:pt x="1003937" y="79177"/>
                  </a:lnTo>
                  <a:lnTo>
                    <a:pt x="962314" y="58889"/>
                  </a:lnTo>
                  <a:lnTo>
                    <a:pt x="919216" y="41394"/>
                  </a:lnTo>
                  <a:lnTo>
                    <a:pt x="874763" y="26812"/>
                  </a:lnTo>
                  <a:lnTo>
                    <a:pt x="829075" y="15261"/>
                  </a:lnTo>
                  <a:lnTo>
                    <a:pt x="782272" y="6862"/>
                  </a:lnTo>
                  <a:lnTo>
                    <a:pt x="734474" y="173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922776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35" y="637125"/>
                  </a:lnTo>
                  <a:lnTo>
                    <a:pt x="6862" y="589326"/>
                  </a:lnTo>
                  <a:lnTo>
                    <a:pt x="15261" y="542522"/>
                  </a:lnTo>
                  <a:lnTo>
                    <a:pt x="26812" y="496834"/>
                  </a:lnTo>
                  <a:lnTo>
                    <a:pt x="41395" y="452381"/>
                  </a:lnTo>
                  <a:lnTo>
                    <a:pt x="58890" y="409282"/>
                  </a:lnTo>
                  <a:lnTo>
                    <a:pt x="79178" y="367659"/>
                  </a:lnTo>
                  <a:lnTo>
                    <a:pt x="102138" y="327630"/>
                  </a:lnTo>
                  <a:lnTo>
                    <a:pt x="127652" y="289315"/>
                  </a:lnTo>
                  <a:lnTo>
                    <a:pt x="155598" y="252835"/>
                  </a:lnTo>
                  <a:lnTo>
                    <a:pt x="185858" y="218308"/>
                  </a:lnTo>
                  <a:lnTo>
                    <a:pt x="218311" y="185855"/>
                  </a:lnTo>
                  <a:lnTo>
                    <a:pt x="252838" y="155596"/>
                  </a:lnTo>
                  <a:lnTo>
                    <a:pt x="289318" y="127650"/>
                  </a:lnTo>
                  <a:lnTo>
                    <a:pt x="327633" y="102137"/>
                  </a:lnTo>
                  <a:lnTo>
                    <a:pt x="367662" y="79177"/>
                  </a:lnTo>
                  <a:lnTo>
                    <a:pt x="409285" y="58889"/>
                  </a:lnTo>
                  <a:lnTo>
                    <a:pt x="452383" y="41394"/>
                  </a:lnTo>
                  <a:lnTo>
                    <a:pt x="496836" y="26812"/>
                  </a:lnTo>
                  <a:lnTo>
                    <a:pt x="542524" y="15261"/>
                  </a:lnTo>
                  <a:lnTo>
                    <a:pt x="589327" y="6862"/>
                  </a:lnTo>
                  <a:lnTo>
                    <a:pt x="637125" y="1735"/>
                  </a:lnTo>
                  <a:lnTo>
                    <a:pt x="685800" y="0"/>
                  </a:lnTo>
                  <a:lnTo>
                    <a:pt x="734474" y="1735"/>
                  </a:lnTo>
                  <a:lnTo>
                    <a:pt x="782272" y="6862"/>
                  </a:lnTo>
                  <a:lnTo>
                    <a:pt x="829075" y="15261"/>
                  </a:lnTo>
                  <a:lnTo>
                    <a:pt x="874763" y="26812"/>
                  </a:lnTo>
                  <a:lnTo>
                    <a:pt x="919216" y="41394"/>
                  </a:lnTo>
                  <a:lnTo>
                    <a:pt x="962314" y="58889"/>
                  </a:lnTo>
                  <a:lnTo>
                    <a:pt x="1003937" y="79177"/>
                  </a:lnTo>
                  <a:lnTo>
                    <a:pt x="1043966" y="102137"/>
                  </a:lnTo>
                  <a:lnTo>
                    <a:pt x="1082281" y="127650"/>
                  </a:lnTo>
                  <a:lnTo>
                    <a:pt x="1118761" y="155596"/>
                  </a:lnTo>
                  <a:lnTo>
                    <a:pt x="1153288" y="185855"/>
                  </a:lnTo>
                  <a:lnTo>
                    <a:pt x="1185741" y="218308"/>
                  </a:lnTo>
                  <a:lnTo>
                    <a:pt x="1216001" y="252835"/>
                  </a:lnTo>
                  <a:lnTo>
                    <a:pt x="1243947" y="289315"/>
                  </a:lnTo>
                  <a:lnTo>
                    <a:pt x="1269461" y="327630"/>
                  </a:lnTo>
                  <a:lnTo>
                    <a:pt x="1292421" y="367659"/>
                  </a:lnTo>
                  <a:lnTo>
                    <a:pt x="1312709" y="409282"/>
                  </a:lnTo>
                  <a:lnTo>
                    <a:pt x="1330204" y="452381"/>
                  </a:lnTo>
                  <a:lnTo>
                    <a:pt x="1344787" y="496834"/>
                  </a:lnTo>
                  <a:lnTo>
                    <a:pt x="1356338" y="542522"/>
                  </a:lnTo>
                  <a:lnTo>
                    <a:pt x="1364737" y="589326"/>
                  </a:lnTo>
                  <a:lnTo>
                    <a:pt x="1369864" y="637125"/>
                  </a:lnTo>
                  <a:lnTo>
                    <a:pt x="1371600" y="685800"/>
                  </a:lnTo>
                  <a:lnTo>
                    <a:pt x="1369864" y="734474"/>
                  </a:lnTo>
                  <a:lnTo>
                    <a:pt x="1364737" y="782273"/>
                  </a:lnTo>
                  <a:lnTo>
                    <a:pt x="1356338" y="829077"/>
                  </a:lnTo>
                  <a:lnTo>
                    <a:pt x="1344787" y="874765"/>
                  </a:lnTo>
                  <a:lnTo>
                    <a:pt x="1330204" y="919218"/>
                  </a:lnTo>
                  <a:lnTo>
                    <a:pt x="1312709" y="962317"/>
                  </a:lnTo>
                  <a:lnTo>
                    <a:pt x="1292421" y="1003940"/>
                  </a:lnTo>
                  <a:lnTo>
                    <a:pt x="1269461" y="1043969"/>
                  </a:lnTo>
                  <a:lnTo>
                    <a:pt x="1243947" y="1082284"/>
                  </a:lnTo>
                  <a:lnTo>
                    <a:pt x="1216001" y="1118764"/>
                  </a:lnTo>
                  <a:lnTo>
                    <a:pt x="1185741" y="1153291"/>
                  </a:lnTo>
                  <a:lnTo>
                    <a:pt x="1153288" y="1185744"/>
                  </a:lnTo>
                  <a:lnTo>
                    <a:pt x="1118761" y="1216003"/>
                  </a:lnTo>
                  <a:lnTo>
                    <a:pt x="1082281" y="1243949"/>
                  </a:lnTo>
                  <a:lnTo>
                    <a:pt x="1043966" y="1269462"/>
                  </a:lnTo>
                  <a:lnTo>
                    <a:pt x="1003937" y="1292422"/>
                  </a:lnTo>
                  <a:lnTo>
                    <a:pt x="962314" y="1312710"/>
                  </a:lnTo>
                  <a:lnTo>
                    <a:pt x="919216" y="1330205"/>
                  </a:lnTo>
                  <a:lnTo>
                    <a:pt x="874763" y="1344787"/>
                  </a:lnTo>
                  <a:lnTo>
                    <a:pt x="829075" y="1356338"/>
                  </a:lnTo>
                  <a:lnTo>
                    <a:pt x="782272" y="1364737"/>
                  </a:lnTo>
                  <a:lnTo>
                    <a:pt x="734474" y="1369864"/>
                  </a:lnTo>
                  <a:lnTo>
                    <a:pt x="685800" y="1371600"/>
                  </a:lnTo>
                  <a:lnTo>
                    <a:pt x="637125" y="1369864"/>
                  </a:lnTo>
                  <a:lnTo>
                    <a:pt x="589327" y="1364737"/>
                  </a:lnTo>
                  <a:lnTo>
                    <a:pt x="542524" y="1356338"/>
                  </a:lnTo>
                  <a:lnTo>
                    <a:pt x="496836" y="1344787"/>
                  </a:lnTo>
                  <a:lnTo>
                    <a:pt x="452383" y="1330205"/>
                  </a:lnTo>
                  <a:lnTo>
                    <a:pt x="409285" y="1312710"/>
                  </a:lnTo>
                  <a:lnTo>
                    <a:pt x="367662" y="1292422"/>
                  </a:lnTo>
                  <a:lnTo>
                    <a:pt x="327633" y="1269462"/>
                  </a:lnTo>
                  <a:lnTo>
                    <a:pt x="289318" y="1243949"/>
                  </a:lnTo>
                  <a:lnTo>
                    <a:pt x="252838" y="1216003"/>
                  </a:lnTo>
                  <a:lnTo>
                    <a:pt x="218311" y="1185744"/>
                  </a:lnTo>
                  <a:lnTo>
                    <a:pt x="185858" y="1153291"/>
                  </a:lnTo>
                  <a:lnTo>
                    <a:pt x="155598" y="1118764"/>
                  </a:lnTo>
                  <a:lnTo>
                    <a:pt x="127652" y="1082284"/>
                  </a:lnTo>
                  <a:lnTo>
                    <a:pt x="102138" y="1043969"/>
                  </a:lnTo>
                  <a:lnTo>
                    <a:pt x="79178" y="1003940"/>
                  </a:lnTo>
                  <a:lnTo>
                    <a:pt x="58890" y="962317"/>
                  </a:lnTo>
                  <a:lnTo>
                    <a:pt x="41395" y="919218"/>
                  </a:lnTo>
                  <a:lnTo>
                    <a:pt x="26812" y="874765"/>
                  </a:lnTo>
                  <a:lnTo>
                    <a:pt x="15261" y="829077"/>
                  </a:lnTo>
                  <a:lnTo>
                    <a:pt x="6862" y="782273"/>
                  </a:lnTo>
                  <a:lnTo>
                    <a:pt x="1735" y="734474"/>
                  </a:lnTo>
                  <a:lnTo>
                    <a:pt x="0" y="685800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212236" y="2213076"/>
              <a:ext cx="2801620" cy="2664460"/>
            </a:xfrm>
            <a:custGeom>
              <a:avLst/>
              <a:gdLst/>
              <a:ahLst/>
              <a:cxnLst/>
              <a:rect l="l" t="t" r="r" b="b"/>
              <a:pathLst>
                <a:path w="2801620" h="2664460">
                  <a:moveTo>
                    <a:pt x="2801620" y="0"/>
                  </a:moveTo>
                  <a:lnTo>
                    <a:pt x="0" y="0"/>
                  </a:lnTo>
                  <a:lnTo>
                    <a:pt x="0" y="2664460"/>
                  </a:lnTo>
                  <a:lnTo>
                    <a:pt x="2801620" y="2664460"/>
                  </a:lnTo>
                  <a:lnTo>
                    <a:pt x="280162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245523" y="2192489"/>
            <a:ext cx="2788920" cy="2651760"/>
          </a:xfrm>
          <a:prstGeom prst="rect">
            <a:avLst/>
          </a:prstGeom>
          <a:solidFill>
            <a:srgbClr val="FCF3EC"/>
          </a:solidFill>
        </p:spPr>
        <p:txBody>
          <a:bodyPr wrap="square" lIns="0" tIns="666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2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R="4572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Demo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50" b="1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600">
              <a:latin typeface="Arial"/>
              <a:cs typeface="Arial"/>
            </a:endParaRPr>
          </a:p>
          <a:p>
            <a:pPr algn="ctr" marL="436245" marR="483234" indent="635">
              <a:lnSpc>
                <a:spcPct val="100000"/>
              </a:lnSpc>
            </a:pPr>
            <a:r>
              <a:rPr dirty="0" sz="1600" spc="-10" b="1">
                <a:latin typeface="Arial"/>
                <a:cs typeface="Arial"/>
              </a:rPr>
              <a:t>PREDICTIVE </a:t>
            </a:r>
            <a:r>
              <a:rPr dirty="0" sz="1600" b="1">
                <a:latin typeface="Arial"/>
                <a:cs typeface="Arial"/>
              </a:rPr>
              <a:t>ANALYTICS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USING </a:t>
            </a:r>
            <a:r>
              <a:rPr dirty="0" sz="1600" b="1">
                <a:latin typeface="Arial"/>
                <a:cs typeface="Arial"/>
              </a:rPr>
              <a:t>AZURE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ML</a:t>
            </a:r>
            <a:endParaRPr sz="1600">
              <a:latin typeface="Arial"/>
              <a:cs typeface="Arial"/>
            </a:endParaRPr>
          </a:p>
          <a:p>
            <a:pPr algn="ctr" marR="45085">
              <a:lnSpc>
                <a:spcPct val="100000"/>
              </a:lnSpc>
              <a:spcBef>
                <a:spcPts val="1625"/>
              </a:spcBef>
            </a:pPr>
            <a:r>
              <a:rPr dirty="0" sz="1400" spc="-5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152629" y="1629181"/>
            <a:ext cx="2801620" cy="3253104"/>
            <a:chOff x="6152629" y="1629181"/>
            <a:chExt cx="2801620" cy="3253104"/>
          </a:xfrm>
        </p:grpSpPr>
        <p:sp>
          <p:nvSpPr>
            <p:cNvPr id="15" name="object 15" descr=""/>
            <p:cNvSpPr/>
            <p:nvPr/>
          </p:nvSpPr>
          <p:spPr>
            <a:xfrm>
              <a:off x="6867144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7125" y="1735"/>
                  </a:lnTo>
                  <a:lnTo>
                    <a:pt x="589327" y="6862"/>
                  </a:lnTo>
                  <a:lnTo>
                    <a:pt x="542524" y="15261"/>
                  </a:lnTo>
                  <a:lnTo>
                    <a:pt x="496836" y="26812"/>
                  </a:lnTo>
                  <a:lnTo>
                    <a:pt x="452383" y="41394"/>
                  </a:lnTo>
                  <a:lnTo>
                    <a:pt x="409285" y="58889"/>
                  </a:lnTo>
                  <a:lnTo>
                    <a:pt x="367662" y="79177"/>
                  </a:lnTo>
                  <a:lnTo>
                    <a:pt x="327633" y="102137"/>
                  </a:lnTo>
                  <a:lnTo>
                    <a:pt x="289318" y="127650"/>
                  </a:lnTo>
                  <a:lnTo>
                    <a:pt x="252838" y="155596"/>
                  </a:lnTo>
                  <a:lnTo>
                    <a:pt x="218311" y="185855"/>
                  </a:lnTo>
                  <a:lnTo>
                    <a:pt x="185858" y="218308"/>
                  </a:lnTo>
                  <a:lnTo>
                    <a:pt x="155598" y="252835"/>
                  </a:lnTo>
                  <a:lnTo>
                    <a:pt x="127652" y="289315"/>
                  </a:lnTo>
                  <a:lnTo>
                    <a:pt x="102138" y="327630"/>
                  </a:lnTo>
                  <a:lnTo>
                    <a:pt x="79178" y="367659"/>
                  </a:lnTo>
                  <a:lnTo>
                    <a:pt x="58890" y="409282"/>
                  </a:lnTo>
                  <a:lnTo>
                    <a:pt x="41395" y="452381"/>
                  </a:lnTo>
                  <a:lnTo>
                    <a:pt x="26812" y="496834"/>
                  </a:lnTo>
                  <a:lnTo>
                    <a:pt x="15261" y="542522"/>
                  </a:lnTo>
                  <a:lnTo>
                    <a:pt x="6862" y="589326"/>
                  </a:lnTo>
                  <a:lnTo>
                    <a:pt x="1735" y="637125"/>
                  </a:lnTo>
                  <a:lnTo>
                    <a:pt x="0" y="685800"/>
                  </a:lnTo>
                  <a:lnTo>
                    <a:pt x="1735" y="734474"/>
                  </a:lnTo>
                  <a:lnTo>
                    <a:pt x="6862" y="782273"/>
                  </a:lnTo>
                  <a:lnTo>
                    <a:pt x="15261" y="829077"/>
                  </a:lnTo>
                  <a:lnTo>
                    <a:pt x="26812" y="874765"/>
                  </a:lnTo>
                  <a:lnTo>
                    <a:pt x="41395" y="919218"/>
                  </a:lnTo>
                  <a:lnTo>
                    <a:pt x="58890" y="962317"/>
                  </a:lnTo>
                  <a:lnTo>
                    <a:pt x="79178" y="1003940"/>
                  </a:lnTo>
                  <a:lnTo>
                    <a:pt x="102138" y="1043969"/>
                  </a:lnTo>
                  <a:lnTo>
                    <a:pt x="127652" y="1082284"/>
                  </a:lnTo>
                  <a:lnTo>
                    <a:pt x="155598" y="1118764"/>
                  </a:lnTo>
                  <a:lnTo>
                    <a:pt x="185858" y="1153291"/>
                  </a:lnTo>
                  <a:lnTo>
                    <a:pt x="218311" y="1185744"/>
                  </a:lnTo>
                  <a:lnTo>
                    <a:pt x="252838" y="1216003"/>
                  </a:lnTo>
                  <a:lnTo>
                    <a:pt x="289318" y="1243949"/>
                  </a:lnTo>
                  <a:lnTo>
                    <a:pt x="327633" y="1269462"/>
                  </a:lnTo>
                  <a:lnTo>
                    <a:pt x="367662" y="1292422"/>
                  </a:lnTo>
                  <a:lnTo>
                    <a:pt x="409285" y="1312710"/>
                  </a:lnTo>
                  <a:lnTo>
                    <a:pt x="452383" y="1330205"/>
                  </a:lnTo>
                  <a:lnTo>
                    <a:pt x="496836" y="1344787"/>
                  </a:lnTo>
                  <a:lnTo>
                    <a:pt x="542524" y="1356338"/>
                  </a:lnTo>
                  <a:lnTo>
                    <a:pt x="589327" y="1364737"/>
                  </a:lnTo>
                  <a:lnTo>
                    <a:pt x="637125" y="1369864"/>
                  </a:lnTo>
                  <a:lnTo>
                    <a:pt x="685800" y="1371600"/>
                  </a:lnTo>
                  <a:lnTo>
                    <a:pt x="734474" y="1369864"/>
                  </a:lnTo>
                  <a:lnTo>
                    <a:pt x="782272" y="1364737"/>
                  </a:lnTo>
                  <a:lnTo>
                    <a:pt x="829075" y="1356338"/>
                  </a:lnTo>
                  <a:lnTo>
                    <a:pt x="874763" y="1344787"/>
                  </a:lnTo>
                  <a:lnTo>
                    <a:pt x="919216" y="1330205"/>
                  </a:lnTo>
                  <a:lnTo>
                    <a:pt x="962314" y="1312710"/>
                  </a:lnTo>
                  <a:lnTo>
                    <a:pt x="1003937" y="1292422"/>
                  </a:lnTo>
                  <a:lnTo>
                    <a:pt x="1043966" y="1269462"/>
                  </a:lnTo>
                  <a:lnTo>
                    <a:pt x="1082281" y="1243949"/>
                  </a:lnTo>
                  <a:lnTo>
                    <a:pt x="1118761" y="1216003"/>
                  </a:lnTo>
                  <a:lnTo>
                    <a:pt x="1153288" y="1185744"/>
                  </a:lnTo>
                  <a:lnTo>
                    <a:pt x="1185741" y="1153291"/>
                  </a:lnTo>
                  <a:lnTo>
                    <a:pt x="1216001" y="1118764"/>
                  </a:lnTo>
                  <a:lnTo>
                    <a:pt x="1243947" y="1082284"/>
                  </a:lnTo>
                  <a:lnTo>
                    <a:pt x="1269461" y="1043969"/>
                  </a:lnTo>
                  <a:lnTo>
                    <a:pt x="1292421" y="1003940"/>
                  </a:lnTo>
                  <a:lnTo>
                    <a:pt x="1312709" y="962317"/>
                  </a:lnTo>
                  <a:lnTo>
                    <a:pt x="1330204" y="919218"/>
                  </a:lnTo>
                  <a:lnTo>
                    <a:pt x="1344787" y="874765"/>
                  </a:lnTo>
                  <a:lnTo>
                    <a:pt x="1356338" y="829077"/>
                  </a:lnTo>
                  <a:lnTo>
                    <a:pt x="1364737" y="782273"/>
                  </a:lnTo>
                  <a:lnTo>
                    <a:pt x="1369864" y="734474"/>
                  </a:lnTo>
                  <a:lnTo>
                    <a:pt x="1371600" y="685800"/>
                  </a:lnTo>
                  <a:lnTo>
                    <a:pt x="1369864" y="637125"/>
                  </a:lnTo>
                  <a:lnTo>
                    <a:pt x="1364737" y="589326"/>
                  </a:lnTo>
                  <a:lnTo>
                    <a:pt x="1356338" y="542522"/>
                  </a:lnTo>
                  <a:lnTo>
                    <a:pt x="1344787" y="496834"/>
                  </a:lnTo>
                  <a:lnTo>
                    <a:pt x="1330204" y="452381"/>
                  </a:lnTo>
                  <a:lnTo>
                    <a:pt x="1312709" y="409282"/>
                  </a:lnTo>
                  <a:lnTo>
                    <a:pt x="1292421" y="367659"/>
                  </a:lnTo>
                  <a:lnTo>
                    <a:pt x="1269461" y="327630"/>
                  </a:lnTo>
                  <a:lnTo>
                    <a:pt x="1243947" y="289315"/>
                  </a:lnTo>
                  <a:lnTo>
                    <a:pt x="1216001" y="252835"/>
                  </a:lnTo>
                  <a:lnTo>
                    <a:pt x="1185741" y="218308"/>
                  </a:lnTo>
                  <a:lnTo>
                    <a:pt x="1153288" y="185855"/>
                  </a:lnTo>
                  <a:lnTo>
                    <a:pt x="1118761" y="155596"/>
                  </a:lnTo>
                  <a:lnTo>
                    <a:pt x="1082281" y="127650"/>
                  </a:lnTo>
                  <a:lnTo>
                    <a:pt x="1043966" y="102137"/>
                  </a:lnTo>
                  <a:lnTo>
                    <a:pt x="1003937" y="79177"/>
                  </a:lnTo>
                  <a:lnTo>
                    <a:pt x="962314" y="58889"/>
                  </a:lnTo>
                  <a:lnTo>
                    <a:pt x="919216" y="41394"/>
                  </a:lnTo>
                  <a:lnTo>
                    <a:pt x="874763" y="26812"/>
                  </a:lnTo>
                  <a:lnTo>
                    <a:pt x="829075" y="15261"/>
                  </a:lnTo>
                  <a:lnTo>
                    <a:pt x="782272" y="6862"/>
                  </a:lnTo>
                  <a:lnTo>
                    <a:pt x="734474" y="173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1464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867144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35" y="637125"/>
                  </a:lnTo>
                  <a:lnTo>
                    <a:pt x="6862" y="589326"/>
                  </a:lnTo>
                  <a:lnTo>
                    <a:pt x="15261" y="542522"/>
                  </a:lnTo>
                  <a:lnTo>
                    <a:pt x="26812" y="496834"/>
                  </a:lnTo>
                  <a:lnTo>
                    <a:pt x="41395" y="452381"/>
                  </a:lnTo>
                  <a:lnTo>
                    <a:pt x="58890" y="409282"/>
                  </a:lnTo>
                  <a:lnTo>
                    <a:pt x="79178" y="367659"/>
                  </a:lnTo>
                  <a:lnTo>
                    <a:pt x="102138" y="327630"/>
                  </a:lnTo>
                  <a:lnTo>
                    <a:pt x="127652" y="289315"/>
                  </a:lnTo>
                  <a:lnTo>
                    <a:pt x="155598" y="252835"/>
                  </a:lnTo>
                  <a:lnTo>
                    <a:pt x="185858" y="218308"/>
                  </a:lnTo>
                  <a:lnTo>
                    <a:pt x="218311" y="185855"/>
                  </a:lnTo>
                  <a:lnTo>
                    <a:pt x="252838" y="155596"/>
                  </a:lnTo>
                  <a:lnTo>
                    <a:pt x="289318" y="127650"/>
                  </a:lnTo>
                  <a:lnTo>
                    <a:pt x="327633" y="102137"/>
                  </a:lnTo>
                  <a:lnTo>
                    <a:pt x="367662" y="79177"/>
                  </a:lnTo>
                  <a:lnTo>
                    <a:pt x="409285" y="58889"/>
                  </a:lnTo>
                  <a:lnTo>
                    <a:pt x="452383" y="41394"/>
                  </a:lnTo>
                  <a:lnTo>
                    <a:pt x="496836" y="26812"/>
                  </a:lnTo>
                  <a:lnTo>
                    <a:pt x="542524" y="15261"/>
                  </a:lnTo>
                  <a:lnTo>
                    <a:pt x="589327" y="6862"/>
                  </a:lnTo>
                  <a:lnTo>
                    <a:pt x="637125" y="1735"/>
                  </a:lnTo>
                  <a:lnTo>
                    <a:pt x="685800" y="0"/>
                  </a:lnTo>
                  <a:lnTo>
                    <a:pt x="734474" y="1735"/>
                  </a:lnTo>
                  <a:lnTo>
                    <a:pt x="782272" y="6862"/>
                  </a:lnTo>
                  <a:lnTo>
                    <a:pt x="829075" y="15261"/>
                  </a:lnTo>
                  <a:lnTo>
                    <a:pt x="874763" y="26812"/>
                  </a:lnTo>
                  <a:lnTo>
                    <a:pt x="919216" y="41394"/>
                  </a:lnTo>
                  <a:lnTo>
                    <a:pt x="962314" y="58889"/>
                  </a:lnTo>
                  <a:lnTo>
                    <a:pt x="1003937" y="79177"/>
                  </a:lnTo>
                  <a:lnTo>
                    <a:pt x="1043966" y="102137"/>
                  </a:lnTo>
                  <a:lnTo>
                    <a:pt x="1082281" y="127650"/>
                  </a:lnTo>
                  <a:lnTo>
                    <a:pt x="1118761" y="155596"/>
                  </a:lnTo>
                  <a:lnTo>
                    <a:pt x="1153288" y="185855"/>
                  </a:lnTo>
                  <a:lnTo>
                    <a:pt x="1185741" y="218308"/>
                  </a:lnTo>
                  <a:lnTo>
                    <a:pt x="1216001" y="252835"/>
                  </a:lnTo>
                  <a:lnTo>
                    <a:pt x="1243947" y="289315"/>
                  </a:lnTo>
                  <a:lnTo>
                    <a:pt x="1269461" y="327630"/>
                  </a:lnTo>
                  <a:lnTo>
                    <a:pt x="1292421" y="367659"/>
                  </a:lnTo>
                  <a:lnTo>
                    <a:pt x="1312709" y="409282"/>
                  </a:lnTo>
                  <a:lnTo>
                    <a:pt x="1330204" y="452381"/>
                  </a:lnTo>
                  <a:lnTo>
                    <a:pt x="1344787" y="496834"/>
                  </a:lnTo>
                  <a:lnTo>
                    <a:pt x="1356338" y="542522"/>
                  </a:lnTo>
                  <a:lnTo>
                    <a:pt x="1364737" y="589326"/>
                  </a:lnTo>
                  <a:lnTo>
                    <a:pt x="1369864" y="637125"/>
                  </a:lnTo>
                  <a:lnTo>
                    <a:pt x="1371600" y="685800"/>
                  </a:lnTo>
                  <a:lnTo>
                    <a:pt x="1369864" y="734474"/>
                  </a:lnTo>
                  <a:lnTo>
                    <a:pt x="1364737" y="782273"/>
                  </a:lnTo>
                  <a:lnTo>
                    <a:pt x="1356338" y="829077"/>
                  </a:lnTo>
                  <a:lnTo>
                    <a:pt x="1344787" y="874765"/>
                  </a:lnTo>
                  <a:lnTo>
                    <a:pt x="1330204" y="919218"/>
                  </a:lnTo>
                  <a:lnTo>
                    <a:pt x="1312709" y="962317"/>
                  </a:lnTo>
                  <a:lnTo>
                    <a:pt x="1292421" y="1003940"/>
                  </a:lnTo>
                  <a:lnTo>
                    <a:pt x="1269461" y="1043969"/>
                  </a:lnTo>
                  <a:lnTo>
                    <a:pt x="1243947" y="1082284"/>
                  </a:lnTo>
                  <a:lnTo>
                    <a:pt x="1216001" y="1118764"/>
                  </a:lnTo>
                  <a:lnTo>
                    <a:pt x="1185741" y="1153291"/>
                  </a:lnTo>
                  <a:lnTo>
                    <a:pt x="1153288" y="1185744"/>
                  </a:lnTo>
                  <a:lnTo>
                    <a:pt x="1118761" y="1216003"/>
                  </a:lnTo>
                  <a:lnTo>
                    <a:pt x="1082281" y="1243949"/>
                  </a:lnTo>
                  <a:lnTo>
                    <a:pt x="1043966" y="1269462"/>
                  </a:lnTo>
                  <a:lnTo>
                    <a:pt x="1003937" y="1292422"/>
                  </a:lnTo>
                  <a:lnTo>
                    <a:pt x="962314" y="1312710"/>
                  </a:lnTo>
                  <a:lnTo>
                    <a:pt x="919216" y="1330205"/>
                  </a:lnTo>
                  <a:lnTo>
                    <a:pt x="874763" y="1344787"/>
                  </a:lnTo>
                  <a:lnTo>
                    <a:pt x="829075" y="1356338"/>
                  </a:lnTo>
                  <a:lnTo>
                    <a:pt x="782272" y="1364737"/>
                  </a:lnTo>
                  <a:lnTo>
                    <a:pt x="734474" y="1369864"/>
                  </a:lnTo>
                  <a:lnTo>
                    <a:pt x="685800" y="1371600"/>
                  </a:lnTo>
                  <a:lnTo>
                    <a:pt x="637125" y="1369864"/>
                  </a:lnTo>
                  <a:lnTo>
                    <a:pt x="589327" y="1364737"/>
                  </a:lnTo>
                  <a:lnTo>
                    <a:pt x="542524" y="1356338"/>
                  </a:lnTo>
                  <a:lnTo>
                    <a:pt x="496836" y="1344787"/>
                  </a:lnTo>
                  <a:lnTo>
                    <a:pt x="452383" y="1330205"/>
                  </a:lnTo>
                  <a:lnTo>
                    <a:pt x="409285" y="1312710"/>
                  </a:lnTo>
                  <a:lnTo>
                    <a:pt x="367662" y="1292422"/>
                  </a:lnTo>
                  <a:lnTo>
                    <a:pt x="327633" y="1269462"/>
                  </a:lnTo>
                  <a:lnTo>
                    <a:pt x="289318" y="1243949"/>
                  </a:lnTo>
                  <a:lnTo>
                    <a:pt x="252838" y="1216003"/>
                  </a:lnTo>
                  <a:lnTo>
                    <a:pt x="218311" y="1185744"/>
                  </a:lnTo>
                  <a:lnTo>
                    <a:pt x="185858" y="1153291"/>
                  </a:lnTo>
                  <a:lnTo>
                    <a:pt x="155598" y="1118764"/>
                  </a:lnTo>
                  <a:lnTo>
                    <a:pt x="127652" y="1082284"/>
                  </a:lnTo>
                  <a:lnTo>
                    <a:pt x="102138" y="1043969"/>
                  </a:lnTo>
                  <a:lnTo>
                    <a:pt x="79178" y="1003940"/>
                  </a:lnTo>
                  <a:lnTo>
                    <a:pt x="58890" y="962317"/>
                  </a:lnTo>
                  <a:lnTo>
                    <a:pt x="41395" y="919218"/>
                  </a:lnTo>
                  <a:lnTo>
                    <a:pt x="26812" y="874765"/>
                  </a:lnTo>
                  <a:lnTo>
                    <a:pt x="15261" y="829077"/>
                  </a:lnTo>
                  <a:lnTo>
                    <a:pt x="6862" y="782273"/>
                  </a:lnTo>
                  <a:lnTo>
                    <a:pt x="1735" y="734474"/>
                  </a:lnTo>
                  <a:lnTo>
                    <a:pt x="0" y="685800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152629" y="2217470"/>
              <a:ext cx="2801620" cy="2664460"/>
            </a:xfrm>
            <a:custGeom>
              <a:avLst/>
              <a:gdLst/>
              <a:ahLst/>
              <a:cxnLst/>
              <a:rect l="l" t="t" r="r" b="b"/>
              <a:pathLst>
                <a:path w="2801620" h="2664460">
                  <a:moveTo>
                    <a:pt x="2801620" y="0"/>
                  </a:moveTo>
                  <a:lnTo>
                    <a:pt x="0" y="0"/>
                  </a:lnTo>
                  <a:lnTo>
                    <a:pt x="0" y="2664460"/>
                  </a:lnTo>
                  <a:lnTo>
                    <a:pt x="2801620" y="2664460"/>
                  </a:lnTo>
                  <a:lnTo>
                    <a:pt x="280162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185915" y="2196871"/>
            <a:ext cx="2788920" cy="265176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622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9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R="38100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latin typeface="Arial"/>
                <a:cs typeface="Arial"/>
              </a:rPr>
              <a:t>Demo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50" b="1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1600">
              <a:latin typeface="Arial"/>
              <a:cs typeface="Arial"/>
            </a:endParaRPr>
          </a:p>
          <a:p>
            <a:pPr algn="ctr" marL="6350" marR="6604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AUTOMATED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HR </a:t>
            </a:r>
            <a:r>
              <a:rPr dirty="0" sz="1600" b="1">
                <a:latin typeface="Arial"/>
                <a:cs typeface="Arial"/>
              </a:rPr>
              <a:t>REPORTING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USING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ZAPIER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12304" y="572711"/>
            <a:ext cx="850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Demo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2752"/>
            <a:ext cx="9144000" cy="46252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42420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42251" y="613807"/>
            <a:ext cx="850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Demo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264520" y="557850"/>
            <a:ext cx="2614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Azure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ML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Model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08791"/>
            <a:ext cx="9144000" cy="42347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1207" y="572711"/>
            <a:ext cx="850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Demo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62662" y="886083"/>
            <a:ext cx="2100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Automation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Workflow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099390" y="896358"/>
            <a:ext cx="1792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Automated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366" y="1247301"/>
            <a:ext cx="3734130" cy="360613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1943" y="1247301"/>
            <a:ext cx="4215587" cy="34914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1480" y="725576"/>
            <a:ext cx="2620010" cy="279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90"/>
              </a:lnSpc>
            </a:pPr>
            <a:r>
              <a:rPr dirty="0" sz="2200" b="1">
                <a:solidFill>
                  <a:srgbClr val="1B3989"/>
                </a:solidFill>
                <a:latin typeface="Calibri"/>
                <a:cs typeface="Calibri"/>
              </a:rPr>
              <a:t>Video</a:t>
            </a:r>
            <a:r>
              <a:rPr dirty="0" sz="2200" spc="-45" b="1">
                <a:solidFill>
                  <a:srgbClr val="1B3989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1B3989"/>
                </a:solidFill>
                <a:latin typeface="Calibri"/>
                <a:cs typeface="Calibri"/>
              </a:rPr>
              <a:t>of</a:t>
            </a:r>
            <a:r>
              <a:rPr dirty="0" sz="2200" spc="-40" b="1">
                <a:solidFill>
                  <a:srgbClr val="1B3989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1B3989"/>
                </a:solidFill>
                <a:latin typeface="Calibri"/>
                <a:cs typeface="Calibri"/>
              </a:rPr>
              <a:t>Project</a:t>
            </a:r>
            <a:r>
              <a:rPr dirty="0" sz="2200" spc="-40" b="1">
                <a:solidFill>
                  <a:srgbClr val="1B3989"/>
                </a:solidFill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1B3989"/>
                </a:solidFill>
                <a:latin typeface="Calibri"/>
                <a:cs typeface="Calibri"/>
              </a:rPr>
              <a:t>Demo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53059" y="673100"/>
            <a:ext cx="8437880" cy="4003040"/>
            <a:chOff x="353059" y="673100"/>
            <a:chExt cx="8437880" cy="4003040"/>
          </a:xfrm>
        </p:grpSpPr>
        <p:sp>
          <p:nvSpPr>
            <p:cNvPr id="4" name="object 4" descr=""/>
            <p:cNvSpPr/>
            <p:nvPr/>
          </p:nvSpPr>
          <p:spPr>
            <a:xfrm>
              <a:off x="365759" y="1069847"/>
              <a:ext cx="8412480" cy="3594100"/>
            </a:xfrm>
            <a:custGeom>
              <a:avLst/>
              <a:gdLst/>
              <a:ahLst/>
              <a:cxnLst/>
              <a:rect l="l" t="t" r="r" b="b"/>
              <a:pathLst>
                <a:path w="8412480" h="3594100">
                  <a:moveTo>
                    <a:pt x="0" y="3593591"/>
                  </a:moveTo>
                  <a:lnTo>
                    <a:pt x="8412480" y="3593591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3593591"/>
                  </a:lnTo>
                  <a:close/>
                </a:path>
              </a:pathLst>
            </a:custGeom>
            <a:solidFill>
              <a:srgbClr val="EBEE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65759" y="685800"/>
              <a:ext cx="8412480" cy="3977640"/>
            </a:xfrm>
            <a:custGeom>
              <a:avLst/>
              <a:gdLst/>
              <a:ahLst/>
              <a:cxnLst/>
              <a:rect l="l" t="t" r="r" b="b"/>
              <a:pathLst>
                <a:path w="8412480" h="3977640">
                  <a:moveTo>
                    <a:pt x="0" y="0"/>
                  </a:moveTo>
                  <a:lnTo>
                    <a:pt x="8412480" y="0"/>
                  </a:lnTo>
                  <a:lnTo>
                    <a:pt x="8412480" y="3977640"/>
                  </a:lnTo>
                  <a:lnTo>
                    <a:pt x="0" y="3977640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1B398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65759" y="685800"/>
              <a:ext cx="8412480" cy="384175"/>
            </a:xfrm>
            <a:custGeom>
              <a:avLst/>
              <a:gdLst/>
              <a:ahLst/>
              <a:cxnLst/>
              <a:rect l="l" t="t" r="r" b="b"/>
              <a:pathLst>
                <a:path w="8412480" h="384175">
                  <a:moveTo>
                    <a:pt x="841248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8412480" y="384048"/>
                  </a:lnTo>
                  <a:lnTo>
                    <a:pt x="841248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9" y="777239"/>
              <a:ext cx="164592" cy="16459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19" y="777239"/>
              <a:ext cx="164592" cy="16459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0119" y="777239"/>
              <a:ext cx="164592" cy="16459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371599" y="777239"/>
              <a:ext cx="5029200" cy="201295"/>
            </a:xfrm>
            <a:custGeom>
              <a:avLst/>
              <a:gdLst/>
              <a:ahLst/>
              <a:cxnLst/>
              <a:rect l="l" t="t" r="r" b="b"/>
              <a:pathLst>
                <a:path w="5029200" h="201294">
                  <a:moveTo>
                    <a:pt x="5029200" y="0"/>
                  </a:moveTo>
                  <a:lnTo>
                    <a:pt x="0" y="0"/>
                  </a:lnTo>
                  <a:lnTo>
                    <a:pt x="0" y="201167"/>
                  </a:lnTo>
                  <a:lnTo>
                    <a:pt x="5029200" y="201167"/>
                  </a:lnTo>
                  <a:lnTo>
                    <a:pt x="5029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371600" y="777240"/>
            <a:ext cx="5029200" cy="201295"/>
          </a:xfrm>
          <a:prstGeom prst="rect">
            <a:avLst/>
          </a:prstGeom>
          <a:ln w="6349">
            <a:solidFill>
              <a:srgbClr val="CCCCCC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109220">
              <a:lnSpc>
                <a:spcPct val="100000"/>
              </a:lnSpc>
              <a:spcBef>
                <a:spcPts val="195"/>
              </a:spcBef>
            </a:pPr>
            <a:r>
              <a:rPr dirty="0" sz="900" spc="-10">
                <a:solidFill>
                  <a:srgbClr val="5F7C8A"/>
                </a:solidFill>
                <a:latin typeface="Calibri"/>
                <a:cs typeface="Calibri"/>
              </a:rPr>
              <a:t>https://drive.google.com/file/d/18RTwT9amOEgWITevqfk46RwTOAW8Skhg/view?usp=drivesdk]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3749040" y="1828800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822960" y="0"/>
                </a:moveTo>
                <a:lnTo>
                  <a:pt x="774908" y="1408"/>
                </a:lnTo>
                <a:lnTo>
                  <a:pt x="727548" y="5579"/>
                </a:lnTo>
                <a:lnTo>
                  <a:pt x="680959" y="12435"/>
                </a:lnTo>
                <a:lnTo>
                  <a:pt x="635221" y="21894"/>
                </a:lnTo>
                <a:lnTo>
                  <a:pt x="590414" y="33878"/>
                </a:lnTo>
                <a:lnTo>
                  <a:pt x="546618" y="48307"/>
                </a:lnTo>
                <a:lnTo>
                  <a:pt x="503911" y="65100"/>
                </a:lnTo>
                <a:lnTo>
                  <a:pt x="462375" y="84179"/>
                </a:lnTo>
                <a:lnTo>
                  <a:pt x="422087" y="105464"/>
                </a:lnTo>
                <a:lnTo>
                  <a:pt x="383129" y="128874"/>
                </a:lnTo>
                <a:lnTo>
                  <a:pt x="345580" y="154331"/>
                </a:lnTo>
                <a:lnTo>
                  <a:pt x="309519" y="181754"/>
                </a:lnTo>
                <a:lnTo>
                  <a:pt x="275026" y="211065"/>
                </a:lnTo>
                <a:lnTo>
                  <a:pt x="242181" y="242182"/>
                </a:lnTo>
                <a:lnTo>
                  <a:pt x="211064" y="275027"/>
                </a:lnTo>
                <a:lnTo>
                  <a:pt x="181754" y="309520"/>
                </a:lnTo>
                <a:lnTo>
                  <a:pt x="154330" y="345581"/>
                </a:lnTo>
                <a:lnTo>
                  <a:pt x="128874" y="383130"/>
                </a:lnTo>
                <a:lnTo>
                  <a:pt x="105463" y="422088"/>
                </a:lnTo>
                <a:lnTo>
                  <a:pt x="84179" y="462376"/>
                </a:lnTo>
                <a:lnTo>
                  <a:pt x="65100" y="503912"/>
                </a:lnTo>
                <a:lnTo>
                  <a:pt x="48307" y="546619"/>
                </a:lnTo>
                <a:lnTo>
                  <a:pt x="33878" y="590415"/>
                </a:lnTo>
                <a:lnTo>
                  <a:pt x="21894" y="635222"/>
                </a:lnTo>
                <a:lnTo>
                  <a:pt x="12435" y="680960"/>
                </a:lnTo>
                <a:lnTo>
                  <a:pt x="5579" y="727548"/>
                </a:lnTo>
                <a:lnTo>
                  <a:pt x="1408" y="774908"/>
                </a:lnTo>
                <a:lnTo>
                  <a:pt x="0" y="822960"/>
                </a:lnTo>
                <a:lnTo>
                  <a:pt x="1408" y="871011"/>
                </a:lnTo>
                <a:lnTo>
                  <a:pt x="5579" y="918371"/>
                </a:lnTo>
                <a:lnTo>
                  <a:pt x="12435" y="964959"/>
                </a:lnTo>
                <a:lnTo>
                  <a:pt x="21894" y="1010697"/>
                </a:lnTo>
                <a:lnTo>
                  <a:pt x="33878" y="1055504"/>
                </a:lnTo>
                <a:lnTo>
                  <a:pt x="48307" y="1099300"/>
                </a:lnTo>
                <a:lnTo>
                  <a:pt x="65100" y="1142007"/>
                </a:lnTo>
                <a:lnTo>
                  <a:pt x="84179" y="1183543"/>
                </a:lnTo>
                <a:lnTo>
                  <a:pt x="105463" y="1223831"/>
                </a:lnTo>
                <a:lnTo>
                  <a:pt x="128874" y="1262789"/>
                </a:lnTo>
                <a:lnTo>
                  <a:pt x="154330" y="1300338"/>
                </a:lnTo>
                <a:lnTo>
                  <a:pt x="181754" y="1336399"/>
                </a:lnTo>
                <a:lnTo>
                  <a:pt x="211064" y="1370892"/>
                </a:lnTo>
                <a:lnTo>
                  <a:pt x="242181" y="1403737"/>
                </a:lnTo>
                <a:lnTo>
                  <a:pt x="275026" y="1434854"/>
                </a:lnTo>
                <a:lnTo>
                  <a:pt x="309519" y="1464165"/>
                </a:lnTo>
                <a:lnTo>
                  <a:pt x="345580" y="1491588"/>
                </a:lnTo>
                <a:lnTo>
                  <a:pt x="383129" y="1517045"/>
                </a:lnTo>
                <a:lnTo>
                  <a:pt x="422087" y="1540455"/>
                </a:lnTo>
                <a:lnTo>
                  <a:pt x="462375" y="1561740"/>
                </a:lnTo>
                <a:lnTo>
                  <a:pt x="503911" y="1580819"/>
                </a:lnTo>
                <a:lnTo>
                  <a:pt x="546618" y="1597612"/>
                </a:lnTo>
                <a:lnTo>
                  <a:pt x="590414" y="1612041"/>
                </a:lnTo>
                <a:lnTo>
                  <a:pt x="635221" y="1624025"/>
                </a:lnTo>
                <a:lnTo>
                  <a:pt x="680959" y="1633484"/>
                </a:lnTo>
                <a:lnTo>
                  <a:pt x="727548" y="1640340"/>
                </a:lnTo>
                <a:lnTo>
                  <a:pt x="774908" y="1644511"/>
                </a:lnTo>
                <a:lnTo>
                  <a:pt x="822960" y="1645920"/>
                </a:lnTo>
                <a:lnTo>
                  <a:pt x="871011" y="1644511"/>
                </a:lnTo>
                <a:lnTo>
                  <a:pt x="918371" y="1640340"/>
                </a:lnTo>
                <a:lnTo>
                  <a:pt x="964959" y="1633484"/>
                </a:lnTo>
                <a:lnTo>
                  <a:pt x="1010697" y="1624025"/>
                </a:lnTo>
                <a:lnTo>
                  <a:pt x="1055504" y="1612041"/>
                </a:lnTo>
                <a:lnTo>
                  <a:pt x="1099300" y="1597612"/>
                </a:lnTo>
                <a:lnTo>
                  <a:pt x="1142007" y="1580819"/>
                </a:lnTo>
                <a:lnTo>
                  <a:pt x="1183543" y="1561740"/>
                </a:lnTo>
                <a:lnTo>
                  <a:pt x="1223831" y="1540455"/>
                </a:lnTo>
                <a:lnTo>
                  <a:pt x="1262789" y="1517045"/>
                </a:lnTo>
                <a:lnTo>
                  <a:pt x="1300338" y="1491588"/>
                </a:lnTo>
                <a:lnTo>
                  <a:pt x="1336399" y="1464165"/>
                </a:lnTo>
                <a:lnTo>
                  <a:pt x="1370892" y="1434854"/>
                </a:lnTo>
                <a:lnTo>
                  <a:pt x="1403737" y="1403737"/>
                </a:lnTo>
                <a:lnTo>
                  <a:pt x="1434854" y="1370892"/>
                </a:lnTo>
                <a:lnTo>
                  <a:pt x="1464165" y="1336399"/>
                </a:lnTo>
                <a:lnTo>
                  <a:pt x="1491588" y="1300338"/>
                </a:lnTo>
                <a:lnTo>
                  <a:pt x="1517045" y="1262789"/>
                </a:lnTo>
                <a:lnTo>
                  <a:pt x="1540455" y="1223831"/>
                </a:lnTo>
                <a:lnTo>
                  <a:pt x="1561740" y="1183543"/>
                </a:lnTo>
                <a:lnTo>
                  <a:pt x="1580819" y="1142007"/>
                </a:lnTo>
                <a:lnTo>
                  <a:pt x="1597612" y="1099300"/>
                </a:lnTo>
                <a:lnTo>
                  <a:pt x="1612041" y="1055504"/>
                </a:lnTo>
                <a:lnTo>
                  <a:pt x="1624025" y="1010697"/>
                </a:lnTo>
                <a:lnTo>
                  <a:pt x="1633484" y="964959"/>
                </a:lnTo>
                <a:lnTo>
                  <a:pt x="1640340" y="918371"/>
                </a:lnTo>
                <a:lnTo>
                  <a:pt x="1644511" y="871011"/>
                </a:lnTo>
                <a:lnTo>
                  <a:pt x="1645920" y="822960"/>
                </a:lnTo>
                <a:lnTo>
                  <a:pt x="1644511" y="774908"/>
                </a:lnTo>
                <a:lnTo>
                  <a:pt x="1640340" y="727548"/>
                </a:lnTo>
                <a:lnTo>
                  <a:pt x="1633484" y="680960"/>
                </a:lnTo>
                <a:lnTo>
                  <a:pt x="1624025" y="635222"/>
                </a:lnTo>
                <a:lnTo>
                  <a:pt x="1612041" y="590415"/>
                </a:lnTo>
                <a:lnTo>
                  <a:pt x="1597612" y="546619"/>
                </a:lnTo>
                <a:lnTo>
                  <a:pt x="1580819" y="503912"/>
                </a:lnTo>
                <a:lnTo>
                  <a:pt x="1561740" y="462376"/>
                </a:lnTo>
                <a:lnTo>
                  <a:pt x="1540455" y="422088"/>
                </a:lnTo>
                <a:lnTo>
                  <a:pt x="1517045" y="383130"/>
                </a:lnTo>
                <a:lnTo>
                  <a:pt x="1491588" y="345581"/>
                </a:lnTo>
                <a:lnTo>
                  <a:pt x="1464165" y="309520"/>
                </a:lnTo>
                <a:lnTo>
                  <a:pt x="1434854" y="275027"/>
                </a:lnTo>
                <a:lnTo>
                  <a:pt x="1403737" y="242182"/>
                </a:lnTo>
                <a:lnTo>
                  <a:pt x="1370892" y="211065"/>
                </a:lnTo>
                <a:lnTo>
                  <a:pt x="1336399" y="181754"/>
                </a:lnTo>
                <a:lnTo>
                  <a:pt x="1300338" y="154331"/>
                </a:lnTo>
                <a:lnTo>
                  <a:pt x="1262789" y="128874"/>
                </a:lnTo>
                <a:lnTo>
                  <a:pt x="1223831" y="105464"/>
                </a:lnTo>
                <a:lnTo>
                  <a:pt x="1183543" y="84179"/>
                </a:lnTo>
                <a:lnTo>
                  <a:pt x="1142007" y="65100"/>
                </a:lnTo>
                <a:lnTo>
                  <a:pt x="1099300" y="48307"/>
                </a:lnTo>
                <a:lnTo>
                  <a:pt x="1055504" y="33878"/>
                </a:lnTo>
                <a:lnTo>
                  <a:pt x="1010697" y="21894"/>
                </a:lnTo>
                <a:lnTo>
                  <a:pt x="964959" y="12435"/>
                </a:lnTo>
                <a:lnTo>
                  <a:pt x="918371" y="5579"/>
                </a:lnTo>
                <a:lnTo>
                  <a:pt x="871011" y="1408"/>
                </a:lnTo>
                <a:lnTo>
                  <a:pt x="822960" y="0"/>
                </a:lnTo>
                <a:close/>
              </a:path>
            </a:pathLst>
          </a:custGeom>
          <a:solidFill>
            <a:srgbClr val="1B3989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325075" y="2247010"/>
            <a:ext cx="49466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75" b="0">
                <a:solidFill>
                  <a:srgbClr val="FFFFFF"/>
                </a:solidFill>
                <a:latin typeface="Lucida Sans Unicode"/>
                <a:cs typeface="Lucida Sans Unicode"/>
              </a:rPr>
              <a:t>▶</a:t>
            </a:r>
            <a:endParaRPr sz="48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399516" y="3902659"/>
            <a:ext cx="23437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[Insert</a:t>
            </a:r>
            <a:r>
              <a:rPr dirty="0" sz="1100" spc="-25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your</a:t>
            </a:r>
            <a:r>
              <a:rPr dirty="0" sz="1100" spc="-20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project</a:t>
            </a:r>
            <a:r>
              <a:rPr dirty="0" sz="1100" spc="-20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demo</a:t>
            </a:r>
            <a:r>
              <a:rPr dirty="0" sz="1100" spc="-20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5F7C8A"/>
                </a:solidFill>
                <a:latin typeface="Calibri"/>
                <a:cs typeface="Calibri"/>
              </a:rPr>
              <a:t>video.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You</a:t>
            </a:r>
            <a:r>
              <a:rPr dirty="0" sz="1100" spc="-15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can</a:t>
            </a:r>
            <a:r>
              <a:rPr dirty="0" sz="1100" spc="-15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embed</a:t>
            </a:r>
            <a:r>
              <a:rPr dirty="0" sz="1100" spc="-10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a</a:t>
            </a:r>
            <a:r>
              <a:rPr dirty="0" sz="1100" spc="-15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video</a:t>
            </a:r>
            <a:r>
              <a:rPr dirty="0" sz="1100" spc="-10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your</a:t>
            </a:r>
            <a:r>
              <a:rPr dirty="0" sz="1100" spc="-15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live</a:t>
            </a:r>
            <a:r>
              <a:rPr dirty="0" sz="1100" spc="-10" i="1">
                <a:solidFill>
                  <a:srgbClr val="5F7C8A"/>
                </a:solidFill>
                <a:latin typeface="Calibri"/>
                <a:cs typeface="Calibri"/>
              </a:rPr>
              <a:t> project.]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13359"/>
            <a:ext cx="9144000" cy="43348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4226" y="1027857"/>
            <a:ext cx="5122545" cy="3317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7815" marR="5080" indent="-285750">
              <a:lnSpc>
                <a:spcPct val="100000"/>
              </a:lnSpc>
              <a:spcBef>
                <a:spcPts val="100"/>
              </a:spcBef>
              <a:buChar char="•"/>
              <a:tabLst>
                <a:tab pos="297815" algn="l"/>
                <a:tab pos="300355" algn="l"/>
              </a:tabLst>
            </a:pPr>
            <a:r>
              <a:rPr dirty="0" sz="1600">
                <a:latin typeface="Arial"/>
                <a:cs typeface="Arial"/>
              </a:rPr>
              <a:t>	Attrition</a:t>
            </a:r>
            <a:r>
              <a:rPr dirty="0" sz="1600" spc="3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risk</a:t>
            </a:r>
            <a:r>
              <a:rPr dirty="0" sz="1600" spc="3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is</a:t>
            </a:r>
            <a:r>
              <a:rPr dirty="0" sz="1600" spc="3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highest</a:t>
            </a:r>
            <a:r>
              <a:rPr dirty="0" sz="1600" spc="3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among</a:t>
            </a:r>
            <a:r>
              <a:rPr dirty="0" sz="1600" spc="37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employees</a:t>
            </a:r>
            <a:r>
              <a:rPr dirty="0" sz="1600" spc="3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with</a:t>
            </a:r>
            <a:r>
              <a:rPr dirty="0" sz="1600" spc="37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low </a:t>
            </a:r>
            <a:r>
              <a:rPr dirty="0" sz="1600">
                <a:latin typeface="Arial"/>
                <a:cs typeface="Arial"/>
              </a:rPr>
              <a:t>satisfaction,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high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overtime,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short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tenure</a:t>
            </a:r>
            <a:endParaRPr sz="1600">
              <a:latin typeface="Arial"/>
              <a:cs typeface="Arial"/>
            </a:endParaRPr>
          </a:p>
          <a:p>
            <a:pPr algn="just" marL="297815" marR="5080" indent="-285750">
              <a:lnSpc>
                <a:spcPct val="100000"/>
              </a:lnSpc>
              <a:spcBef>
                <a:spcPts val="1200"/>
              </a:spcBef>
              <a:buChar char="•"/>
              <a:tabLst>
                <a:tab pos="297815" algn="l"/>
                <a:tab pos="300355" algn="l"/>
              </a:tabLst>
            </a:pPr>
            <a:r>
              <a:rPr dirty="0" sz="1600">
                <a:latin typeface="Arial"/>
                <a:cs typeface="Arial"/>
              </a:rPr>
              <a:t>	Key</a:t>
            </a:r>
            <a:r>
              <a:rPr dirty="0" sz="1600" spc="13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challenges</a:t>
            </a:r>
            <a:r>
              <a:rPr dirty="0" sz="1600" spc="135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include</a:t>
            </a:r>
            <a:r>
              <a:rPr dirty="0" sz="1600" spc="135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workload</a:t>
            </a:r>
            <a:r>
              <a:rPr dirty="0" sz="1600" spc="135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imbalance,</a:t>
            </a:r>
            <a:r>
              <a:rPr dirty="0" sz="1600" spc="135">
                <a:latin typeface="Arial"/>
                <a:cs typeface="Arial"/>
              </a:rPr>
              <a:t>  </a:t>
            </a:r>
            <a:r>
              <a:rPr dirty="0" sz="1600" spc="-25">
                <a:latin typeface="Arial"/>
                <a:cs typeface="Arial"/>
              </a:rPr>
              <a:t>low </a:t>
            </a:r>
            <a:r>
              <a:rPr dirty="0" sz="1600">
                <a:latin typeface="Arial"/>
                <a:cs typeface="Arial"/>
              </a:rPr>
              <a:t>engagement,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early-</a:t>
            </a:r>
            <a:r>
              <a:rPr dirty="0" sz="1600">
                <a:latin typeface="Arial"/>
                <a:cs typeface="Arial"/>
              </a:rPr>
              <a:t>stage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dissatisfaction</a:t>
            </a:r>
            <a:endParaRPr sz="1600">
              <a:latin typeface="Arial"/>
              <a:cs typeface="Arial"/>
            </a:endParaRPr>
          </a:p>
          <a:p>
            <a:pPr algn="just" marL="297815" marR="5080" indent="-285750">
              <a:lnSpc>
                <a:spcPct val="100000"/>
              </a:lnSpc>
              <a:spcBef>
                <a:spcPts val="1200"/>
              </a:spcBef>
              <a:buChar char="•"/>
              <a:tabLst>
                <a:tab pos="297815" algn="l"/>
                <a:tab pos="300355" algn="l"/>
              </a:tabLst>
            </a:pPr>
            <a:r>
              <a:rPr dirty="0" sz="1600">
                <a:latin typeface="Arial"/>
                <a:cs typeface="Arial"/>
              </a:rPr>
              <a:t>	The</a:t>
            </a:r>
            <a:r>
              <a:rPr dirty="0" sz="1600" spc="18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dashboard</a:t>
            </a:r>
            <a:r>
              <a:rPr dirty="0" sz="1600" spc="18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identifies</a:t>
            </a:r>
            <a:r>
              <a:rPr dirty="0" sz="1600" spc="180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high-risk</a:t>
            </a:r>
            <a:r>
              <a:rPr dirty="0" sz="1600" spc="185">
                <a:latin typeface="Arial"/>
                <a:cs typeface="Arial"/>
              </a:rPr>
              <a:t>  </a:t>
            </a:r>
            <a:r>
              <a:rPr dirty="0" sz="1600">
                <a:latin typeface="Arial"/>
                <a:cs typeface="Arial"/>
              </a:rPr>
              <a:t>segments</a:t>
            </a:r>
            <a:r>
              <a:rPr dirty="0" sz="1600" spc="180">
                <a:latin typeface="Arial"/>
                <a:cs typeface="Arial"/>
              </a:rPr>
              <a:t>  </a:t>
            </a:r>
            <a:r>
              <a:rPr dirty="0" sz="1600" spc="-25">
                <a:latin typeface="Arial"/>
                <a:cs typeface="Arial"/>
              </a:rPr>
              <a:t>for </a:t>
            </a:r>
            <a:r>
              <a:rPr dirty="0" sz="1600">
                <a:latin typeface="Arial"/>
                <a:cs typeface="Arial"/>
              </a:rPr>
              <a:t>targeted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HR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actions</a:t>
            </a:r>
            <a:endParaRPr sz="1600">
              <a:latin typeface="Arial"/>
              <a:cs typeface="Arial"/>
            </a:endParaRPr>
          </a:p>
          <a:p>
            <a:pPr algn="just" marL="297815" marR="5715" indent="-285750">
              <a:lnSpc>
                <a:spcPct val="100000"/>
              </a:lnSpc>
              <a:spcBef>
                <a:spcPts val="1200"/>
              </a:spcBef>
              <a:buChar char="•"/>
              <a:tabLst>
                <a:tab pos="297815" algn="l"/>
                <a:tab pos="300355" algn="l"/>
              </a:tabLst>
            </a:pPr>
            <a:r>
              <a:rPr dirty="0" sz="1600">
                <a:latin typeface="Arial"/>
                <a:cs typeface="Arial"/>
              </a:rPr>
              <a:t>	Strategic</a:t>
            </a:r>
            <a:r>
              <a:rPr dirty="0" sz="1600" spc="380">
                <a:latin typeface="Arial"/>
                <a:cs typeface="Arial"/>
              </a:rPr>
              <a:t>   </a:t>
            </a:r>
            <a:r>
              <a:rPr dirty="0" sz="1600">
                <a:latin typeface="Arial"/>
                <a:cs typeface="Arial"/>
              </a:rPr>
              <a:t>steps</a:t>
            </a:r>
            <a:r>
              <a:rPr dirty="0" sz="1600" spc="385">
                <a:latin typeface="Arial"/>
                <a:cs typeface="Arial"/>
              </a:rPr>
              <a:t>   </a:t>
            </a:r>
            <a:r>
              <a:rPr dirty="0" sz="1600">
                <a:latin typeface="Arial"/>
                <a:cs typeface="Arial"/>
              </a:rPr>
              <a:t>like</a:t>
            </a:r>
            <a:r>
              <a:rPr dirty="0" sz="1600" spc="380">
                <a:latin typeface="Arial"/>
                <a:cs typeface="Arial"/>
              </a:rPr>
              <a:t>   </a:t>
            </a:r>
            <a:r>
              <a:rPr dirty="0" sz="1600">
                <a:latin typeface="Arial"/>
                <a:cs typeface="Arial"/>
              </a:rPr>
              <a:t>workload</a:t>
            </a:r>
            <a:r>
              <a:rPr dirty="0" sz="1600" spc="385">
                <a:latin typeface="Arial"/>
                <a:cs typeface="Arial"/>
              </a:rPr>
              <a:t>   </a:t>
            </a:r>
            <a:r>
              <a:rPr dirty="0" sz="1600" spc="-10">
                <a:latin typeface="Arial"/>
                <a:cs typeface="Arial"/>
              </a:rPr>
              <a:t>optimization, </a:t>
            </a:r>
            <a:r>
              <a:rPr dirty="0" sz="1600">
                <a:latin typeface="Arial"/>
                <a:cs typeface="Arial"/>
              </a:rPr>
              <a:t>engagement,</a:t>
            </a:r>
            <a:r>
              <a:rPr dirty="0" sz="1600" spc="29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and</a:t>
            </a:r>
            <a:r>
              <a:rPr dirty="0" sz="1600" spc="29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compensation</a:t>
            </a:r>
            <a:r>
              <a:rPr dirty="0" sz="1600" spc="29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review</a:t>
            </a:r>
            <a:r>
              <a:rPr dirty="0" sz="1600" spc="29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can</a:t>
            </a:r>
            <a:r>
              <a:rPr dirty="0" sz="1600" spc="29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reduce attrition</a:t>
            </a:r>
            <a:endParaRPr sz="1600">
              <a:latin typeface="Arial"/>
              <a:cs typeface="Arial"/>
            </a:endParaRPr>
          </a:p>
          <a:p>
            <a:pPr algn="just" marL="297815" marR="5080" indent="-285750">
              <a:lnSpc>
                <a:spcPct val="100000"/>
              </a:lnSpc>
              <a:spcBef>
                <a:spcPts val="1200"/>
              </a:spcBef>
              <a:buChar char="•"/>
              <a:tabLst>
                <a:tab pos="297815" algn="l"/>
                <a:tab pos="300355" algn="l"/>
              </a:tabLst>
            </a:pPr>
            <a:r>
              <a:rPr dirty="0" sz="1600">
                <a:latin typeface="Arial"/>
                <a:cs typeface="Arial"/>
              </a:rPr>
              <a:t>	Zapier</a:t>
            </a:r>
            <a:r>
              <a:rPr dirty="0" sz="1600" spc="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enables</a:t>
            </a:r>
            <a:r>
              <a:rPr dirty="0" sz="1600" spc="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automated</a:t>
            </a:r>
            <a:r>
              <a:rPr dirty="0" sz="1600" spc="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reporting,</a:t>
            </a:r>
            <a:r>
              <a:rPr dirty="0" sz="1600" spc="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while</a:t>
            </a:r>
            <a:r>
              <a:rPr dirty="0" sz="1600" spc="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Azure</a:t>
            </a:r>
            <a:r>
              <a:rPr dirty="0" sz="1600" spc="9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ML </a:t>
            </a:r>
            <a:r>
              <a:rPr dirty="0" sz="1600">
                <a:latin typeface="Arial"/>
                <a:cs typeface="Arial"/>
              </a:rPr>
              <a:t>predicts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attrition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risk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for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proactive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decision-making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5360" y="760590"/>
            <a:ext cx="3488639" cy="36026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35"/>
              <a:t> </a:t>
            </a:r>
            <a:r>
              <a:rPr dirty="0" spc="-20"/>
              <a:t>Scope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8450" marR="6985" indent="-28575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  <a:tab pos="1278890" algn="l"/>
                <a:tab pos="2247265" algn="l"/>
                <a:tab pos="2720340" algn="l"/>
                <a:tab pos="3294379" algn="l"/>
                <a:tab pos="3710940" algn="l"/>
              </a:tabLst>
            </a:pPr>
            <a:r>
              <a:rPr dirty="0" spc="-10"/>
              <a:t>Integrate</a:t>
            </a:r>
            <a:r>
              <a:rPr dirty="0"/>
              <a:t>	</a:t>
            </a:r>
            <a:r>
              <a:rPr dirty="0" spc="-20"/>
              <a:t>real-time</a:t>
            </a:r>
            <a:r>
              <a:rPr dirty="0"/>
              <a:t>	</a:t>
            </a:r>
            <a:r>
              <a:rPr dirty="0" spc="-25"/>
              <a:t>HR</a:t>
            </a:r>
            <a:r>
              <a:rPr dirty="0"/>
              <a:t>	</a:t>
            </a:r>
            <a:r>
              <a:rPr dirty="0" spc="-20"/>
              <a:t>data</a:t>
            </a:r>
            <a:r>
              <a:rPr dirty="0"/>
              <a:t>	</a:t>
            </a:r>
            <a:r>
              <a:rPr dirty="0" spc="-25"/>
              <a:t>for</a:t>
            </a:r>
            <a:r>
              <a:rPr dirty="0"/>
              <a:t>	</a:t>
            </a:r>
            <a:r>
              <a:rPr dirty="0" spc="-10"/>
              <a:t>continuous </a:t>
            </a:r>
            <a:r>
              <a:rPr dirty="0"/>
              <a:t>monitoring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insights</a:t>
            </a:r>
          </a:p>
          <a:p>
            <a:pPr marL="298450" marR="7620" indent="-285750">
              <a:lnSpc>
                <a:spcPct val="100000"/>
              </a:lnSpc>
              <a:spcBef>
                <a:spcPts val="1200"/>
              </a:spcBef>
              <a:buChar char="•"/>
              <a:tabLst>
                <a:tab pos="298450" algn="l"/>
              </a:tabLst>
            </a:pPr>
            <a:r>
              <a:rPr dirty="0"/>
              <a:t>Apply</a:t>
            </a:r>
            <a:r>
              <a:rPr dirty="0" spc="240"/>
              <a:t> </a:t>
            </a:r>
            <a:r>
              <a:rPr dirty="0"/>
              <a:t>predictive</a:t>
            </a:r>
            <a:r>
              <a:rPr dirty="0" spc="240"/>
              <a:t> </a:t>
            </a:r>
            <a:r>
              <a:rPr dirty="0"/>
              <a:t>analytics</a:t>
            </a:r>
            <a:r>
              <a:rPr dirty="0" spc="245"/>
              <a:t> </a:t>
            </a:r>
            <a:r>
              <a:rPr dirty="0"/>
              <a:t>to</a:t>
            </a:r>
            <a:r>
              <a:rPr dirty="0" spc="240"/>
              <a:t> </a:t>
            </a:r>
            <a:r>
              <a:rPr dirty="0"/>
              <a:t>forecast</a:t>
            </a:r>
            <a:r>
              <a:rPr dirty="0" spc="240"/>
              <a:t> </a:t>
            </a:r>
            <a:r>
              <a:rPr dirty="0" spc="-10"/>
              <a:t>employee attrition</a:t>
            </a:r>
          </a:p>
          <a:p>
            <a:pPr marL="298450" marR="6350" indent="-285750">
              <a:lnSpc>
                <a:spcPct val="100000"/>
              </a:lnSpc>
              <a:spcBef>
                <a:spcPts val="1200"/>
              </a:spcBef>
              <a:buChar char="•"/>
              <a:tabLst>
                <a:tab pos="298450" algn="l"/>
              </a:tabLst>
            </a:pPr>
            <a:r>
              <a:rPr dirty="0"/>
              <a:t>Enhance</a:t>
            </a:r>
            <a:r>
              <a:rPr dirty="0" spc="280"/>
              <a:t> </a:t>
            </a:r>
            <a:r>
              <a:rPr dirty="0"/>
              <a:t>dashboards</a:t>
            </a:r>
            <a:r>
              <a:rPr dirty="0" spc="280"/>
              <a:t> </a:t>
            </a:r>
            <a:r>
              <a:rPr dirty="0"/>
              <a:t>with</a:t>
            </a:r>
            <a:r>
              <a:rPr dirty="0" spc="280"/>
              <a:t> </a:t>
            </a:r>
            <a:r>
              <a:rPr dirty="0"/>
              <a:t>automated</a:t>
            </a:r>
            <a:r>
              <a:rPr dirty="0" spc="285"/>
              <a:t> </a:t>
            </a:r>
            <a:r>
              <a:rPr dirty="0"/>
              <a:t>alerts</a:t>
            </a:r>
            <a:r>
              <a:rPr dirty="0" spc="280"/>
              <a:t> </a:t>
            </a:r>
            <a:r>
              <a:rPr dirty="0" spc="-25"/>
              <a:t>for </a:t>
            </a:r>
            <a:r>
              <a:rPr dirty="0"/>
              <a:t>high-risk </a:t>
            </a:r>
            <a:r>
              <a:rPr dirty="0" spc="-10"/>
              <a:t>employees</a:t>
            </a:r>
          </a:p>
          <a:p>
            <a:pPr marL="298450" marR="5080" indent="-285750">
              <a:lnSpc>
                <a:spcPct val="100000"/>
              </a:lnSpc>
              <a:spcBef>
                <a:spcPts val="1200"/>
              </a:spcBef>
              <a:buChar char="•"/>
              <a:tabLst>
                <a:tab pos="298450" algn="l"/>
                <a:tab pos="1223010" algn="l"/>
                <a:tab pos="1797685" algn="l"/>
                <a:tab pos="2507615" algn="l"/>
                <a:tab pos="3025775" algn="l"/>
                <a:tab pos="4210050" algn="l"/>
              </a:tabLst>
            </a:pPr>
            <a:r>
              <a:rPr dirty="0" spc="-10"/>
              <a:t>Expand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scale</a:t>
            </a:r>
            <a:r>
              <a:rPr dirty="0"/>
              <a:t>	</a:t>
            </a:r>
            <a:r>
              <a:rPr dirty="0" spc="-25"/>
              <a:t>the</a:t>
            </a:r>
            <a:r>
              <a:rPr dirty="0"/>
              <a:t>	</a:t>
            </a:r>
            <a:r>
              <a:rPr dirty="0" spc="-10"/>
              <a:t>framework</a:t>
            </a:r>
            <a:r>
              <a:rPr dirty="0"/>
              <a:t>	</a:t>
            </a:r>
            <a:r>
              <a:rPr dirty="0" spc="-10"/>
              <a:t>using </a:t>
            </a:r>
            <a:r>
              <a:rPr dirty="0"/>
              <a:t>additional</a:t>
            </a:r>
            <a:r>
              <a:rPr dirty="0" spc="-35"/>
              <a:t> </a:t>
            </a:r>
            <a:r>
              <a:rPr dirty="0"/>
              <a:t>workforce</a:t>
            </a:r>
            <a:r>
              <a:rPr dirty="0" spc="-30"/>
              <a:t> </a:t>
            </a:r>
            <a:r>
              <a:rPr dirty="0"/>
              <a:t>data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across</a:t>
            </a:r>
            <a:r>
              <a:rPr dirty="0" spc="-35"/>
              <a:t> </a:t>
            </a:r>
            <a:r>
              <a:rPr dirty="0" spc="-10"/>
              <a:t>industries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4190" y="1267239"/>
            <a:ext cx="3801719" cy="2534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6745" algn="l"/>
                <a:tab pos="2117725" algn="l"/>
              </a:tabLst>
            </a:pPr>
            <a:r>
              <a:rPr dirty="0" sz="1400" spc="-10"/>
              <a:t>A</a:t>
            </a:r>
            <a:r>
              <a:rPr dirty="0" sz="1400" spc="-190"/>
              <a:t> </a:t>
            </a:r>
            <a:r>
              <a:rPr dirty="0" sz="1400"/>
              <a:t>I</a:t>
            </a:r>
            <a:r>
              <a:rPr dirty="0" sz="1400" spc="-190"/>
              <a:t> </a:t>
            </a:r>
            <a:r>
              <a:rPr dirty="0" sz="1400" spc="-20"/>
              <a:t>C</a:t>
            </a:r>
            <a:r>
              <a:rPr dirty="0" sz="1400" spc="-185"/>
              <a:t> </a:t>
            </a:r>
            <a:r>
              <a:rPr dirty="0" sz="1400"/>
              <a:t>W</a:t>
            </a:r>
            <a:r>
              <a:rPr dirty="0" sz="1400" spc="400"/>
              <a:t> </a:t>
            </a:r>
            <a:r>
              <a:rPr dirty="0" sz="1400"/>
              <a:t>F</a:t>
            </a:r>
            <a:r>
              <a:rPr dirty="0" sz="1400" spc="-190"/>
              <a:t> </a:t>
            </a:r>
            <a:r>
              <a:rPr dirty="0" sz="1400"/>
              <a:t>e</a:t>
            </a:r>
            <a:r>
              <a:rPr dirty="0" sz="1400" spc="-185"/>
              <a:t> </a:t>
            </a:r>
            <a:r>
              <a:rPr dirty="0" sz="1400" spc="-10"/>
              <a:t>l</a:t>
            </a:r>
            <a:r>
              <a:rPr dirty="0" sz="1400" spc="-190"/>
              <a:t> </a:t>
            </a:r>
            <a:r>
              <a:rPr dirty="0" sz="1400" spc="-10"/>
              <a:t>l</a:t>
            </a:r>
            <a:r>
              <a:rPr dirty="0" sz="1400" spc="-190"/>
              <a:t> </a:t>
            </a:r>
            <a:r>
              <a:rPr dirty="0" sz="1400"/>
              <a:t>o</a:t>
            </a:r>
            <a:r>
              <a:rPr dirty="0" sz="1400" spc="-185"/>
              <a:t> </a:t>
            </a:r>
            <a:r>
              <a:rPr dirty="0" sz="1400" spc="-20"/>
              <a:t>w</a:t>
            </a:r>
            <a:r>
              <a:rPr dirty="0" sz="1400" spc="-190"/>
              <a:t> </a:t>
            </a:r>
            <a:r>
              <a:rPr dirty="0" sz="1400"/>
              <a:t>s</a:t>
            </a:r>
            <a:r>
              <a:rPr dirty="0" sz="1400" spc="-190"/>
              <a:t> </a:t>
            </a:r>
            <a:r>
              <a:rPr dirty="0" sz="1400"/>
              <a:t>h</a:t>
            </a:r>
            <a:r>
              <a:rPr dirty="0" sz="1400" spc="-185"/>
              <a:t> </a:t>
            </a:r>
            <a:r>
              <a:rPr dirty="0" sz="1400" spc="-10"/>
              <a:t>i</a:t>
            </a:r>
            <a:r>
              <a:rPr dirty="0" sz="1400" spc="-190"/>
              <a:t> </a:t>
            </a:r>
            <a:r>
              <a:rPr dirty="0" sz="1400" spc="-60"/>
              <a:t>p</a:t>
            </a:r>
            <a:r>
              <a:rPr dirty="0" sz="1400"/>
              <a:t>	</a:t>
            </a:r>
            <a:r>
              <a:rPr dirty="0" sz="1400" spc="-50"/>
              <a:t>|</a:t>
            </a:r>
            <a:r>
              <a:rPr dirty="0" sz="1400"/>
              <a:t>	</a:t>
            </a:r>
            <a:r>
              <a:rPr dirty="0" sz="1400" spc="-10"/>
              <a:t>S</a:t>
            </a:r>
            <a:r>
              <a:rPr dirty="0" sz="1400" spc="-190"/>
              <a:t> </a:t>
            </a:r>
            <a:r>
              <a:rPr dirty="0" sz="1400"/>
              <a:t>t</a:t>
            </a:r>
            <a:r>
              <a:rPr dirty="0" sz="1400" spc="-190"/>
              <a:t> </a:t>
            </a:r>
            <a:r>
              <a:rPr dirty="0" sz="1400"/>
              <a:t>u</a:t>
            </a:r>
            <a:r>
              <a:rPr dirty="0" sz="1400" spc="-190"/>
              <a:t> </a:t>
            </a:r>
            <a:r>
              <a:rPr dirty="0" sz="1400"/>
              <a:t>d</a:t>
            </a:r>
            <a:r>
              <a:rPr dirty="0" sz="1400" spc="-190"/>
              <a:t> </a:t>
            </a:r>
            <a:r>
              <a:rPr dirty="0" sz="1400"/>
              <a:t>e</a:t>
            </a:r>
            <a:r>
              <a:rPr dirty="0" sz="1400" spc="-190"/>
              <a:t> </a:t>
            </a:r>
            <a:r>
              <a:rPr dirty="0" sz="1400"/>
              <a:t>n</a:t>
            </a:r>
            <a:r>
              <a:rPr dirty="0" sz="1400" spc="-190"/>
              <a:t> </a:t>
            </a:r>
            <a:r>
              <a:rPr dirty="0" sz="1400"/>
              <a:t>t</a:t>
            </a:r>
            <a:r>
              <a:rPr dirty="0" sz="1400" spc="395"/>
              <a:t> </a:t>
            </a:r>
            <a:r>
              <a:rPr dirty="0" sz="1400" spc="-10"/>
              <a:t>P</a:t>
            </a:r>
            <a:r>
              <a:rPr dirty="0" sz="1400" spc="-190"/>
              <a:t> </a:t>
            </a:r>
            <a:r>
              <a:rPr dirty="0" sz="1400"/>
              <a:t>r</a:t>
            </a:r>
            <a:r>
              <a:rPr dirty="0" sz="1400" spc="-190"/>
              <a:t> </a:t>
            </a:r>
            <a:r>
              <a:rPr dirty="0" sz="1400"/>
              <a:t>o</a:t>
            </a:r>
            <a:r>
              <a:rPr dirty="0" sz="1400" spc="-185"/>
              <a:t> </a:t>
            </a:r>
            <a:r>
              <a:rPr dirty="0" sz="1400" spc="-10"/>
              <a:t>j</a:t>
            </a:r>
            <a:r>
              <a:rPr dirty="0" sz="1400" spc="-190"/>
              <a:t> </a:t>
            </a:r>
            <a:r>
              <a:rPr dirty="0" sz="1400"/>
              <a:t>e</a:t>
            </a:r>
            <a:r>
              <a:rPr dirty="0" sz="1400" spc="-190"/>
              <a:t> </a:t>
            </a:r>
            <a:r>
              <a:rPr dirty="0" sz="1400"/>
              <a:t>c</a:t>
            </a:r>
            <a:r>
              <a:rPr dirty="0" sz="1400" spc="-190"/>
              <a:t> </a:t>
            </a:r>
            <a:r>
              <a:rPr dirty="0" sz="1400"/>
              <a:t>t</a:t>
            </a:r>
            <a:r>
              <a:rPr dirty="0" sz="1400" spc="395"/>
              <a:t> </a:t>
            </a:r>
            <a:r>
              <a:rPr dirty="0" sz="1400" spc="-10"/>
              <a:t>P</a:t>
            </a:r>
            <a:r>
              <a:rPr dirty="0" sz="1400" spc="-190"/>
              <a:t> </a:t>
            </a:r>
            <a:r>
              <a:rPr dirty="0" sz="1400"/>
              <a:t>r</a:t>
            </a:r>
            <a:r>
              <a:rPr dirty="0" sz="1400" spc="-190"/>
              <a:t> </a:t>
            </a:r>
            <a:r>
              <a:rPr dirty="0" sz="1400"/>
              <a:t>e</a:t>
            </a:r>
            <a:r>
              <a:rPr dirty="0" sz="1400" spc="-190"/>
              <a:t> </a:t>
            </a:r>
            <a:r>
              <a:rPr dirty="0" sz="1400"/>
              <a:t>s</a:t>
            </a:r>
            <a:r>
              <a:rPr dirty="0" sz="1400" spc="-190"/>
              <a:t> </a:t>
            </a:r>
            <a:r>
              <a:rPr dirty="0" sz="1400"/>
              <a:t>e</a:t>
            </a:r>
            <a:r>
              <a:rPr dirty="0" sz="1400" spc="-185"/>
              <a:t> </a:t>
            </a:r>
            <a:r>
              <a:rPr dirty="0" sz="1400"/>
              <a:t>n</a:t>
            </a:r>
            <a:r>
              <a:rPr dirty="0" sz="1400" spc="-190"/>
              <a:t> </a:t>
            </a:r>
            <a:r>
              <a:rPr dirty="0" sz="1400"/>
              <a:t>t</a:t>
            </a:r>
            <a:r>
              <a:rPr dirty="0" sz="1400" spc="-190"/>
              <a:t> </a:t>
            </a:r>
            <a:r>
              <a:rPr dirty="0" sz="1400"/>
              <a:t>a</a:t>
            </a:r>
            <a:r>
              <a:rPr dirty="0" sz="1400" spc="-190"/>
              <a:t> </a:t>
            </a:r>
            <a:r>
              <a:rPr dirty="0" sz="1400"/>
              <a:t>t</a:t>
            </a:r>
            <a:r>
              <a:rPr dirty="0" sz="1400" spc="-190"/>
              <a:t> </a:t>
            </a:r>
            <a:r>
              <a:rPr dirty="0" sz="1400" spc="-10"/>
              <a:t>i</a:t>
            </a:r>
            <a:r>
              <a:rPr dirty="0" sz="1400" spc="-190"/>
              <a:t> </a:t>
            </a:r>
            <a:r>
              <a:rPr dirty="0" sz="1400"/>
              <a:t>o</a:t>
            </a:r>
            <a:r>
              <a:rPr dirty="0" sz="1400" spc="-190"/>
              <a:t> </a:t>
            </a:r>
            <a:r>
              <a:rPr dirty="0" sz="1400"/>
              <a:t>n</a:t>
            </a:r>
            <a:r>
              <a:rPr dirty="0" sz="1400" spc="395"/>
              <a:t> </a:t>
            </a:r>
            <a:r>
              <a:rPr dirty="0" sz="1400"/>
              <a:t>2</a:t>
            </a:r>
            <a:r>
              <a:rPr dirty="0" sz="1400" spc="-190"/>
              <a:t> </a:t>
            </a:r>
            <a:r>
              <a:rPr dirty="0" sz="1400"/>
              <a:t>0</a:t>
            </a:r>
            <a:r>
              <a:rPr dirty="0" sz="1400" spc="-185"/>
              <a:t> </a:t>
            </a:r>
            <a:r>
              <a:rPr dirty="0" sz="1400"/>
              <a:t>2</a:t>
            </a:r>
            <a:r>
              <a:rPr dirty="0" sz="1400" spc="-190"/>
              <a:t> </a:t>
            </a:r>
            <a:r>
              <a:rPr dirty="0" sz="1400" spc="-50"/>
              <a:t>6</a:t>
            </a:r>
            <a:endParaRPr sz="1400"/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400"/>
          </a:p>
          <a:p>
            <a:pPr algn="ctr" marL="101600">
              <a:lnSpc>
                <a:spcPct val="100000"/>
              </a:lnSpc>
            </a:pPr>
            <a:r>
              <a:rPr dirty="0" sz="1100"/>
              <a:t>LinkedIn</a:t>
            </a:r>
            <a:r>
              <a:rPr dirty="0" sz="1100" spc="260"/>
              <a:t> </a:t>
            </a:r>
            <a:r>
              <a:rPr dirty="0" sz="1100"/>
              <a:t>|</a:t>
            </a:r>
            <a:r>
              <a:rPr dirty="0" sz="1100" spc="125"/>
              <a:t>  </a:t>
            </a:r>
            <a:r>
              <a:rPr dirty="0" sz="1100"/>
              <a:t>Edunet</a:t>
            </a:r>
            <a:r>
              <a:rPr dirty="0" sz="1100" spc="-20"/>
              <a:t> </a:t>
            </a:r>
            <a:r>
              <a:rPr dirty="0" sz="1100" spc="-10"/>
              <a:t>Foundation</a:t>
            </a:r>
            <a:endParaRPr sz="1100"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</a:tabLst>
            </a:pPr>
            <a:r>
              <a:rPr dirty="0" sz="5000" spc="-10">
                <a:solidFill>
                  <a:srgbClr val="0D358D"/>
                </a:solidFill>
              </a:rPr>
              <a:t>Thank</a:t>
            </a:r>
            <a:r>
              <a:rPr dirty="0" sz="5000">
                <a:solidFill>
                  <a:srgbClr val="0D358D"/>
                </a:solidFill>
              </a:rPr>
              <a:t>	</a:t>
            </a:r>
            <a:r>
              <a:rPr dirty="0" sz="5000" spc="-25">
                <a:solidFill>
                  <a:srgbClr val="0D358D"/>
                </a:solidFill>
              </a:rPr>
              <a:t>You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D358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2026-04-27T19:25:04Z</dcterms:created>
  <dcterms:modified xsi:type="dcterms:W3CDTF">2026-04-27T19:25:04Z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2026-04-27T00:00:00Z</vt:filetime>
  </property>
  <property fmtid="{D5CDD505-2E9C-101B-9397-08002B2CF9AE}" pid="3" name="LastSaved">
    <vt:filetime>2026-04-27T00:00:00Z</vt:filetime>
  </property>
  <property fmtid="{D5CDD505-2E9C-101B-9397-08002B2CF9AE}" pid="4" name="Producer">
    <vt:lpwstr>3-Heights(TM) PDF Security Shell 4.8.25.2 (http://www.pdf-tools.com)</vt:lpwstr>
  </property>
</Properties>
</file>